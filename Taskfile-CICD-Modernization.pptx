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0"/>
    <c:plotArea>
      <c:layout/>
      <c:barChart>
        <c:barDir val="col"/>
        <c:grouping val="clustered"/>
        <c:varyColors val="1"/>
        <c:ser>
          <c:idx val="0"/>
          <c:order val="0"/>
          <c:tx>
            <c:strRef>
              <c:f>Sheet1!$B$1</c:f>
              <c:strCache>
                <c:ptCount val="1"/>
                <c:pt idx="0">
                  <c:v>Repositories</c:v>
                </c:pt>
              </c:strCache>
            </c:strRef>
          </c:tx>
          <c:invertIfNegative val="1"/>
          <c:dPt>
            <c:idx val="0"/>
            <c:invertIfNegative val="1"/>
            <c:bubble3D val="0"/>
            <c:spPr>
              <a:solidFill>
                <a:srgbClr val="0CA30C"/>
              </a:solidFill>
            </c:spPr>
            <c:extLst>
              <c:ext xmlns:c16="http://schemas.microsoft.com/office/drawing/2014/chart" uri="{C3380CC4-5D6E-409C-BE32-E72D297353CC}">
                <c16:uniqueId val="{00000001-B42B-3D44-A654-77A2E8859869}"/>
              </c:ext>
            </c:extLst>
          </c:dPt>
          <c:dPt>
            <c:idx val="1"/>
            <c:invertIfNegative val="1"/>
            <c:bubble3D val="0"/>
            <c:spPr>
              <a:solidFill>
                <a:srgbClr val="FAB219"/>
              </a:solidFill>
            </c:spPr>
            <c:extLst>
              <c:ext xmlns:c16="http://schemas.microsoft.com/office/drawing/2014/chart" uri="{C3380CC4-5D6E-409C-BE32-E72D297353CC}">
                <c16:uniqueId val="{00000003-B42B-3D44-A654-77A2E8859869}"/>
              </c:ext>
            </c:extLst>
          </c:dPt>
          <c:dPt>
            <c:idx val="2"/>
            <c:invertIfNegative val="1"/>
            <c:bubble3D val="0"/>
            <c:spPr>
              <a:solidFill>
                <a:srgbClr val="D03B3B"/>
              </a:solidFill>
            </c:spPr>
            <c:extLst>
              <c:ext xmlns:c16="http://schemas.microsoft.com/office/drawing/2014/chart" uri="{C3380CC4-5D6E-409C-BE32-E72D297353CC}">
                <c16:uniqueId val="{00000005-B42B-3D44-A654-77A2E8859869}"/>
              </c:ext>
            </c:extLst>
          </c:dPt>
          <c:dLbls>
            <c:numFmt formatCode="0" sourceLinked="0"/>
            <c:spPr>
              <a:noFill/>
              <a:ln>
                <a:noFill/>
              </a:ln>
              <a:effectLst/>
            </c:spPr>
            <c:txPr>
              <a:bodyPr/>
              <a:lstStyle/>
              <a:p>
                <a:pPr>
                  <a:defRPr sz="13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Current</c:v>
                </c:pt>
                <c:pt idx="1">
                  <c:v>Upgrade Available</c:v>
                </c:pt>
                <c:pt idx="2">
                  <c:v>Unsupported</c:v>
                </c:pt>
              </c:strCache>
            </c:strRef>
          </c:cat>
          <c:val>
            <c:numRef>
              <c:f>Sheet1!$B$2:$B$4</c:f>
              <c:numCache>
                <c:formatCode>General</c:formatCode>
                <c:ptCount val="3"/>
                <c:pt idx="0">
                  <c:v>251</c:v>
                </c:pt>
                <c:pt idx="1">
                  <c:v>28</c:v>
                </c:pt>
                <c:pt idx="2">
                  <c:v>6</c:v>
                </c:pt>
              </c:numCache>
            </c:numRef>
          </c:val>
          <c:extLst>
            <c:ext xmlns:c16="http://schemas.microsoft.com/office/drawing/2014/chart" uri="{C3380CC4-5D6E-409C-BE32-E72D297353CC}">
              <c16:uniqueId val="{00000006-B42B-3D44-A654-77A2E8859869}"/>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3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4925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framing this as a technical review, not a pitch for a tool. Core message for the next 20 minutes: we are not proposing an extra migration — we are proposing a way to do the migration we already committed to (Classic to ADO YAML) so it doesn't have to be repeated for GitHub Actions. Set expectations: architecture first, then governance and versioning, then a concrete pilot ask at the end. Total runtime target: ~20 minutes plus discussion.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Move through this quickly — don't linger, it's just a map. Flag up front that slides 5-9 (boundary, library design, versioning, governance, telemetry) are where this group's actual decisions live; the earlier slides are grounding context so those decisions make sense. If time is short, this is the slide to cut, not the later ones.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currently running a modernization effort to move our Azure DevOps Classic Pipelines — all 200-plus of them — onto Azure DevOps YAML. That project is already underway and already funded, so I'm not asking you to approve new work there. What I want to flag is a second fact sitting right alongside it: GitHub Enterprise is expected to be available organization-wide in roughly six months, and once it lands, GitHub Actions becomes the natural next step for CI/CD.</a:t>
            </a:r>
          </a:p>
          <a:p>
            <a:endParaRPr/>
          </a:p>
          <a:p>
            <a:r>
              <a:t>If we do nothing differently, here's what happens: we migrate Classic pipelines to Azure DevOps YAML this year, hard-coding business logic — PowerShell steps, deployment sequences, build logic — directly into that YAML. Then next year, when GitHub Actions becomes viable, we do it all again, this time translating ADO-specific YAML into GitHub-specific YAML. That's two migrations for the same underlying logic, and every duplicated migration is duplicated risk, duplicated testing, and duplicated cost.</a:t>
            </a:r>
          </a:p>
          <a:p>
            <a:endParaRPr/>
          </a:p>
          <a:p>
            <a:r>
              <a:t>The problem today isn't just that pipelines are ADO-specific — it's that business logic is tightly coupled to the pipeline: inline PowerShell scripts, ADO-specific task references, repeated YAML blocks copy-pasted across repos, and deployment steps that vary slightly from team to team with no single source of truth.</a:t>
            </a:r>
          </a:p>
          <a:p>
            <a:endParaRPr/>
          </a:p>
          <a:p>
            <a:r>
              <a:t>My ask in this section is simple: let's agree that avoiding a second migration is worth designing for now, while we still have the chance, rather than after the ADO YAML migration is locked 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I get into the solution, let me ground this in what we actually run today, because it directly shapes what I'm going to recommend.</a:t>
            </a:r>
          </a:p>
          <a:p>
            <a:endParaRPr/>
          </a:p>
          <a:p>
            <a:r>
              <a:t>On the CI/CD side: over 200 Classic Pipelines, all in Azure DevOps Repos, executing on self-hosted Windows agents — no Linux runners, no container runtime in the build path today. On the infrastructure side, the large majority of our workloads run in Azure, with a smaller set of legacy systems still hosted in Telehouse, and Bicep is our standardized Infrastructure-as-Code tool — that's not up for debate here, it's a given constraint.</a:t>
            </a:r>
          </a:p>
          <a:p>
            <a:endParaRPr/>
          </a:p>
          <a:p>
            <a:r>
              <a:t>On the application side, somewhere between 80 and 85 percent of what we ship is .NET, with Python and a handful of other stacks making up the rest. And critically, the glue holding all of this together today is PowerShell — it's the primary automation language across teams, alongside the dotnet CLI, MSBuild, NuGet, and a long tail of custom deployment scripts.</a:t>
            </a:r>
          </a:p>
          <a:p>
            <a:endParaRPr/>
          </a:p>
          <a:p>
            <a:r>
              <a:t>I'm calling this out explicitly because it rules some options out and rules others in. A Windows-heavy, PowerShell-heavy, .NET-heavy estate is exactly why we are not recommending a container-native rebuild like Dagger at this stage — that would mean introducing Linux runners and BuildKit-compatible infrastructure we don't have and don't need yet. It's also exactly why the approach I'm about to show you works: it wraps what we already have instead of asking every team to rewrite their automation from scratch.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here's the core idea, and I want this to be the one sentence you remember from this entire deck: the CI/CD platform orchestrates, Taskfile executes.</a:t>
            </a:r>
          </a:p>
          <a:p>
            <a:endParaRPr/>
          </a:p>
          <a:p>
            <a:r>
              <a:t>Look at the diagram — at the top, Azure DevOps today, GitHub Actions later. Both of them only handle orchestration: they decide when a pipeline runs, on what trigger, on which agent, with what approvals. Underneath that sits Taskfile, and underneath Taskfile sits everything that actually does work — dotnet build, security scanning, Bicep deployment — which ultimately produces the application.</a:t>
            </a:r>
          </a:p>
          <a:p>
            <a:endParaRPr/>
          </a:p>
          <a:p>
            <a:r>
              <a:t>The critical shift is this: today, that business logic — the build steps, the scan invocation, the deployment sequence — lives inside the Azure DevOps YAML itself. Under this model, it moves into the Taskfile, and the pipeline YAML shrinks down to just a few lines that say, effectively, 'run this task.'</a:t>
            </a:r>
          </a:p>
          <a:p>
            <a:endParaRPr/>
          </a:p>
          <a:p>
            <a:r>
              <a:t>If someone in the room says, 'isn't this just adding another layer of indirection?' — the honest answer is yes, and that's deliberate. We're not removing indirection, we're relocating it, moving it out of a CI-platform-specific format and into a portable, CI-agnostic one. That relocation is what makes the GitHub migration story so much simpler later, which I'll get to in a few slides.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concretely, what is Taskfile? It's a YAML-based task runner — a build automation tool, conceptually similar to Make, but modern, cross-platform, and easy to read.</a:t>
            </a:r>
          </a:p>
          <a:p>
            <a:endParaRPr/>
          </a:p>
          <a:p>
            <a:r>
              <a:t>I want to be really clear about what it is not, because I don't want anyone to think we're proposing to replace core tooling. It does not replace dotnet, npm, az, kubectl, PowerShell, or Bash — every one of those commands keeps running exactly as it does today.</a:t>
            </a:r>
          </a:p>
          <a:p>
            <a:endParaRPr/>
          </a:p>
          <a:p>
            <a:r>
              <a:t>What Taskfile does is give us a consistent, declarative way to define tasks, their dependencies, their variables, and their environment, once, and then run that same definition anywhere — a developer's laptop, a self-hosted Windows agent, a GitHub-hosted runner, it doesn't matter.</a:t>
            </a:r>
          </a:p>
          <a:p>
            <a:endParaRPr/>
          </a:p>
          <a:p>
            <a:r>
              <a:t>That last point is the one to sit with: `task build` on my laptop and `task build` in the pipeline are the literal same command hitting the literal same task definition. There's no separate 'local dev workflow' and 'CI workflow' to keep in sync — there's one workflow, executed in two places.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make this concrete with the simplest possible example — and if I can, I'll actually run this live in a terminal for thirty seconds, because a live `task --list` lands better than any slide.</a:t>
            </a:r>
          </a:p>
          <a:p>
            <a:endParaRPr/>
          </a:p>
          <a:p>
            <a:r>
              <a:t>On the left is a Taskfile with one composite task called `ci`, which declares a dependency chain: restore, then build, then test. On the right is what actually happens when you type `task ci` — Task resolves that dependency graph and runs restore, then build, then test, in that order, stopping if any step fails.</a:t>
            </a:r>
          </a:p>
          <a:p>
            <a:endParaRPr/>
          </a:p>
          <a:p>
            <a:r>
              <a:t>That's the entire mechanism. It sounds almost too simple to matter, but this dependency-and-composition model is what replaces the copy-pasted, slightly-different-in-every-repo YAML steps we have today. Instead of 200 pipelines each hand-writing their own restore-build-test sequence with small inconsistencies, every repo can call the same `ci` task, built from the same reusable building blocks, and any improvement to those building blocks benefits every repo that consumes them.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one I expect Security and Architecture to focus on, so let me be precise.</a:t>
            </a:r>
          </a:p>
          <a:p>
            <a:endParaRPr/>
          </a:p>
          <a:p>
            <a:r>
              <a:t>There's a clean line between what the shared platform library owns and what an individual application's own Taskfile owns. The platform library owns the actual build, test, scan, and deploy logic, the security thresholds and SBOM and signing requirements, telemetry reporting, and the version compliance check that runs at pipeline startup. The application's own Taskfile owns only its own identity — its app name, its project, its environment-specific values — and which of the platform's capabilities it chooses to include.</a:t>
            </a:r>
          </a:p>
          <a:p>
            <a:endParaRPr/>
          </a:p>
          <a:p>
            <a:r>
              <a:t>And here is the point I most want to land: secrets and credentials are never stored in the Taskfile, ever. They flow from Azure DevOps Variable Groups or Key Vault into environment variables at the pipeline step — exactly as they do today — and the Taskfile simply reads those environment variables at run time. It never generates them, never logs them, never persists them.</a:t>
            </a:r>
          </a:p>
          <a:p>
            <a:endParaRPr/>
          </a:p>
          <a:p>
            <a:r>
              <a:t>That's precisely why the same Taskfile is portable later to GitHub Secrets or OIDC-based authentication — the boundary between 'what the CI platform is responsible for' and 'what the Taskfile is responsible for' doesn't change, only the mechanism that fills in the environment variables changes.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what a reusable platform library actually looks like on disk, and I want to be clear — this is not a hypothetical design, this has already been built and tested.</a:t>
            </a:r>
          </a:p>
          <a:p>
            <a:endParaRPr/>
          </a:p>
          <a:p>
            <a:r>
              <a:t>It's a single versioned repository with a root Taskfile that composes everything else, a VERSION file that's the single source of truth for the library's own version, and then a set of independent folders — build, test, security, package, infra, deploy, common, and telemetry — each containing tech-specific task definitions like dotnet.yml or bicep.yml. Each of those files is included independently, so an application team only pulls in the capabilities it actually needs; a Python-only repo never has to see the Bicep tasks, for example.</a:t>
            </a:r>
          </a:p>
          <a:p>
            <a:endParaRPr/>
          </a:p>
          <a:p>
            <a:r>
              <a:t>I ran `task --list-all` against this exact structure and it correctly resolved 23 individual tasks across all of those namespaces, with proper dependency ordering. I also ran the telemetry task specifically and confirmed it reads the platform's own VERSION file and correctly assembles the JSON payload with repo, branch, environment, and timestamp.</a:t>
            </a:r>
          </a:p>
          <a:p>
            <a:endParaRPr/>
          </a:p>
          <a:p>
            <a:r>
              <a:t>So when I talk about this library in the rest of the deck, I'm not talking about a plan — I'm giving you a status update on something that already runs.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this looks inside an actual Azure DevOps pipeline. On the left is essentially the entire pipeline — checkout, install the .NET SDK, then two script steps: `task ci` and `task cd`, with the CD step receiving secrets as environment variables from ADO's variable mechanism exactly as it does today.</a:t>
            </a:r>
          </a:p>
          <a:p>
            <a:endParaRPr/>
          </a:p>
          <a:p>
            <a:r>
              <a:t>On the right, I've split out what stays the responsibility of Azure DevOps versus what moves into the Taskfile. ADO keeps ownership of the trigger, the agent pool selection, service connections, variable groups, approvals, and artifact publishing — all the things that are genuinely specific to how Azure DevOps operates. Everything else — the actual build, test, scan, and deploy logic — moves into the Taskfile.</a:t>
            </a:r>
          </a:p>
          <a:p>
            <a:endParaRPr/>
          </a:p>
          <a:p>
            <a:r>
              <a:t>The practical effect for most teams is that their pipeline YAML shrinks by an order of magnitude: instead of hundreds of lines of inline steps, conditions, and variables, you get a handful of lines that call out to tasks. That shrinkage isn't just cosmetic — it's what makes pipelines easier to review, easier to keep consistent across repos, and dramatically easier to migrate later.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really about the six-month clock on GitHub Enterprise. Here's the equivalent GitHub Actions workflow, conceptually side by side with the ADO one you just saw — install the .NET SDK, then `task ci`, then `task cd`, with secrets now coming from GitHub Secrets instead of ADO Variable Groups.</a:t>
            </a:r>
          </a:p>
          <a:p>
            <a:endParaRPr/>
          </a:p>
          <a:p>
            <a:r>
              <a:t>The headline point, and I want to say this slowly: the Taskfile itself does not change. Not one task definition, not one dependency, not one line of build or deploy logic. The only new artifact is this workflow file, which is thin by construction — it was always going to be thin, because we designed the boundary this way from the start.</a:t>
            </a:r>
          </a:p>
          <a:p>
            <a:endParaRPr/>
          </a:p>
          <a:p>
            <a:r>
              <a:t>Now, I want to be honest about where we actually are: we have designed this and we have strong reason to believe it will work as shown, but we have not yet run `task ci` inside an actual GitHub Actions job as an end-to-end smoke test. I'd rather tell you that plainly now than have someone discover it's unproven later.</a:t>
            </a:r>
          </a:p>
          <a:p>
            <a:endParaRPr/>
          </a:p>
          <a:p>
            <a:r>
              <a:t>My recommendation is that we run that smoke test in a scratch repository well before GHE rolls out organization-wide, so that when GitHub Actions becomes real, this 'no rework' claim is something we've already verified, not something we're hoping is true.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versioning story, and it's changed significantly from the original approach. Let me be specific about what changed and why.</a:t>
            </a:r>
          </a:p>
          <a:p>
            <a:endParaRPr/>
          </a:p>
          <a:p>
            <a:r>
              <a:t>We still use standard Semantic Versioning on the library itself, and immutable version tags — v1.5.0, v1.4.1, v2.0.0 — are still created on every release and never moved. The VERSION file at the library root still exists, but it's now a self-identification artefact read by the telemetry task at run time; it's not the mechanism that application teams interact with.</a:t>
            </a:r>
          </a:p>
          <a:p>
            <a:endParaRPr/>
          </a:p>
          <a:p>
            <a:r>
              <a:t>The key change is in how app teams consume the library. The original design had teams explicitly pin a version, similar to vendoring. The new approach uses channel tags — mutable git tags that always point to the latest validated release within a channel. App teams write `ref: refs/tags/stable` once at onboarding, and they never touch that line again for routine releases. ADO resolves the tag to the current commit SHA at pipeline queue time. Moving the tag IS the release.</a:t>
            </a:r>
          </a:p>
          <a:p>
            <a:endParaRPr/>
          </a:p>
          <a:p>
            <a:r>
              <a:t>Three channels cover the full consumption spectrum: stable for most teams, always on the latest validated release; v1-stable for teams on the current major version, used during major version transitions; and lts for regulated or change-controlled workloads that require longer stability windows.</a:t>
            </a:r>
          </a:p>
          <a:p>
            <a:endParaRPr/>
          </a:p>
          <a:p>
            <a:r>
              <a:t>The support policy flows directly from channel membership: on stable means current, green; on v1-stable with a newer minor available means upgrade available, warning in pipeline log; v1-stable with EOL announced means deprecated, warning plus Teams notification; end-of-life channel means blocked — the pipeline fails at template load with a message pointing to the migration guide. No app repo change is required to enforce the block.</a:t>
            </a:r>
          </a:p>
          <a:p>
            <a:endParaRPr/>
          </a:p>
          <a:p>
            <a:r>
              <a:t>The release lifecycle has four mandatory stages, each with a gate: merge to main with automated tests passing; tag the immutable version; run pilot validation against that explicit tag across three to five representative app pipelines; then promote the channel tag through a manual approval gate. stable is never moved manually — only the promotion pipeline can do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brings together the two halves of the governance story: how versions move and what happens to teams at each lifecycle stage.</a:t>
            </a:r>
          </a:p>
          <a:p>
            <a:endParaRPr/>
          </a:p>
          <a:p>
            <a:r>
              <a:t>On the left — the channel tag model. There are three channels: stable, v1-stable, and lts. Each is a mutable git tag pointing at an immutable version commit. Moving the stable tag to v1.5.0 is the entire release mechanism — no app repo is touched, no pull request is raised, no pipeline variable is updated. Every pipeline that runs after the tag moves gets the new version automatically.</a:t>
            </a:r>
          </a:p>
          <a:p>
            <a:endParaRPr/>
          </a:p>
          <a:p>
            <a:r>
              <a:t>Rollback is the same mechanism in reverse — point stable back at v1.4.0 and push. That's one command and takes under a minute. All 200-plus pipelines self-heal on their next run.</a:t>
            </a:r>
          </a:p>
          <a:p>
            <a:endParaRPr/>
          </a:p>
          <a:p>
            <a:r>
              <a:t>The lifecycle strip shows the four mandatory stages: merge to main, tag the immutable version, run pilot validation against that explicit tag, then promote. stable is never moved manually — only the promotion pipeline, which has a manual approval gate, can do it.</a:t>
            </a:r>
          </a:p>
          <a:p>
            <a:endParaRPr/>
          </a:p>
          <a:p>
            <a:r>
              <a:t>On the right — the support policy. Current means on stable at the latest version, green light. Upgrade Available means on v1-stable with a newer minor available, pipeline logs a warning. Deprecated means the v1-stable channel has an announced end-of-life date, warning plus a Teams notification to the team. Blocked means the channel is retired — the pipeline fails at template load with a clear message pointing to the migration guide. No app repo needs to be changed to enforce that block — it's centrally enforced inside the platform template.</a:t>
            </a:r>
          </a:p>
          <a:p>
            <a:endParaRPr/>
          </a:p>
          <a:p>
            <a:r>
              <a:t>Bottom right shows the application pipeline: one line — the ref — is all that changes when a team migrates from one channel to another.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Ownership needs to be unambiguous or this whole model falls apart the first time something breaks.</a:t>
            </a:r>
          </a:p>
          <a:p>
            <a:endParaRPr/>
          </a:p>
          <a:p>
            <a:r>
              <a:t>Platform Engineering owns the CI/CD standards, the shared Taskfile library itself, the shared PowerShell and Bicep modules, and the version management and release cadence for all of it. Application teams own their own application-specific Taskfile and their own pipeline — they decide what to include from the platform library and how to wire up their own app name, environment, and configuration.</a:t>
            </a:r>
          </a:p>
          <a:p>
            <a:endParaRPr/>
          </a:p>
          <a:p>
            <a:r>
              <a:t>And critically, exceptions are a real, first-class thing, not something teams just quietly do — if an application genuinely can't conform to the standard model, because of a legacy technology, a regulatory constraint, or a vendor-managed system, that exception gets documented, it's time-bound wherever possible, and it goes through a lightweight approval process with Platform Engineering and Architecture.</a:t>
            </a:r>
          </a:p>
          <a:p>
            <a:endParaRPr/>
          </a:p>
          <a:p>
            <a:r>
              <a:t>This keeps the model honest: standardization for the common case, with a clear, visible process for the exceptions, rather than either forcing every application into an identical mold or letting exceptions become invisible technical debt.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reasons teams resist standardization is that nobody can see who's actually using the standard and who's quietly drifted away from it. This closes that gap.</a:t>
            </a:r>
          </a:p>
          <a:p>
            <a:endParaRPr/>
          </a:p>
          <a:p>
            <a:r>
              <a:t>Every single `task ci` or `task cd` run reports its repository name, branch, environment, the platform library version it's running, and a timestamp — and it sends that straight to Azure Log Analytics. Notice what's not required here: zero application-side code. The application team doesn't write any telemetry logic at all; it's baked into the platform library's own `ci` and `cd` tasks as a dependency, so adoption reporting comes for free the moment a team includes the platform library.</a:t>
            </a:r>
          </a:p>
          <a:p>
            <a:endParaRPr/>
          </a:p>
          <a:p>
            <a:r>
              <a:t>I do want to flag clearly — the numbers on this slide, the 88 percent adoption rate, the 251-28-6 split — these are the illustrative example numbers straight out of the design document, not real production data from our environment. I'm showing you the shape of the dashboard we'd get, not a current measurement. Once telemetry is actually wired up and pilots are running, we'll have real numbers to bring back to this group.</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roll this out broadly, we validate it against four specific pilot applications, and I chose these four deliberately to stress-test the model rather than to showcase its best case.</a:t>
            </a:r>
          </a:p>
          <a:p>
            <a:endParaRPr/>
          </a:p>
          <a:p>
            <a:r>
              <a:t>A standard .NET API validates the straightforward happy path — build, test, package, deploy. An Azure Function validates a different deployment shape, since Functions don't deploy the same way an App Service does. A legacy, PowerShell-heavy application is the one I actually care most about, because it tests whether existing automation can be reused with minimal refactoring rather than a rewrite — if that pilot struggles, it tells us the model doesn't fit our messiest, oldest systems, which is a real problem given how much PowerShell we run today. And a Bicep-infrastructure-only repository validates the infra namespace in isolation, separate from any application code.</a:t>
            </a:r>
          </a:p>
          <a:p>
            <a:endParaRPr/>
          </a:p>
          <a:p>
            <a:r>
              <a:t>We'll measure success against concrete criteria: migration effort compared to a direct YAML migration, how much more readable the resulting pipeline is, how little existing script logic had to be rewritten, whether the same commands produce the same results locally and in CI, and how minimal the eventual GitHub migration turns out to be.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build order, and I want to point out that the first item is already checked off. We've scaffolded the library and implemented the core .NET and Bicep tasks — that's done, not proposed.</a:t>
            </a:r>
          </a:p>
          <a:p>
            <a:endParaRPr/>
          </a:p>
          <a:p>
            <a:r>
              <a:t>From here: add telemetry reporting and security scanning tasks; run the four pilots I just described and capture real metrics against those success criteria; then publish version 1.0.0 with a proper changelog and a published support policy, and open it up for organization-wide onboarding.</a:t>
            </a:r>
          </a:p>
          <a:p>
            <a:endParaRPr/>
          </a:p>
          <a:p>
            <a:r>
              <a:t>The last step, deliberately sequenced before general availability rather than after, is proving GitHub Actions portability with an actual smoke test — I don't want us to discover a problem with that assumption only after teams are depending on 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be concrete and, if anything, a little conservative about where things actually stand right now, because I'd rather under-promise here than have this look more finished than it is.</a:t>
            </a:r>
          </a:p>
          <a:p>
            <a:endParaRPr/>
          </a:p>
          <a:p>
            <a:r>
              <a:t>What's done: the platform-taskfile-library is scaffolded and validated — `task --list-all` correctly resolves 23 tasks. The root Taskfile composes `ci` and `cd` from the dotnet, test, security, bicep, appservice, and telemetry namespaces. We have a draft of both the thin Azure DevOps pipeline template and the equivalent GitHub Actions workflow. And the telemetry task specifically has been run and confirmed working end-to-end — it correctly reads the VERSION file and reports repository, branch, and environment.</a:t>
            </a:r>
          </a:p>
          <a:p>
            <a:endParaRPr/>
          </a:p>
          <a:p>
            <a:r>
              <a:t>What's explicitly not done yet: the security scanning tasks are placeholders, not wired up to our actual Checkmarx or Sonar tooling; we haven't chosen or built the telemetry endpoint; and none of the four pilots have actually been run against a real repository yet.</a:t>
            </a:r>
          </a:p>
          <a:p>
            <a:endParaRPr/>
          </a:p>
          <a:p>
            <a:r>
              <a:t>I'm calling all of that out directly so that the decisions I'm about to ask for are grounded in an accurate picture, not an inflated one.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actual ask of this meeting — everything before this was context to get us here. Three decisions.</a:t>
            </a:r>
          </a:p>
          <a:p>
            <a:endParaRPr/>
          </a:p>
          <a:p>
            <a:r>
              <a:t>First: where does the library repository physically live — do we stand up a new, dedicated Azure DevOps repository for it, or does it live as a folder inside an existing platform repository we already operate?</a:t>
            </a:r>
          </a:p>
          <a:p>
            <a:endParaRPr/>
          </a:p>
          <a:p>
            <a:r>
              <a:t>Second: what's the telemetry endpoint — do we call the Azure Monitor Data Collector API directly from the Taskfile, or do we route through an intermediate internal service that gives us more control later?</a:t>
            </a:r>
          </a:p>
          <a:p>
            <a:endParaRPr/>
          </a:p>
          <a:p>
            <a:r>
              <a:t>Third, and this is the one I'd push hardest on: who actually runs the four pilots — does Platform Engineering embed directly with application teams to drive them, or do application teams self-serve with office hours support from Platform Engineering?</a:t>
            </a:r>
          </a:p>
          <a:p>
            <a:endParaRPr/>
          </a:p>
          <a:p>
            <a:r>
              <a:t>I don't need final, binding answers to all three today, but I do want at least a direction on each before we leave this room, because the third one in particular determines how fast we can move.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here's the concrete proposal, not just 'Taskfile is a good idea': approve a pilot on one standard .NET API repository, using the thin Azure DevOps template I showed you, starting within the next two weeks, with a named owner assigned. In parallel, confirm the telemetry endpoint decision so we're not blocked later.</a:t>
            </a:r>
          </a:p>
          <a:p>
            <a:endParaRPr/>
          </a:p>
          <a:p>
            <a:r>
              <a:t>Before I open this up, let me get ahead of the questions I expect.</a:t>
            </a:r>
          </a:p>
          <a:p>
            <a:endParaRPr/>
          </a:p>
          <a:p>
            <a:r>
              <a:t>'We already have ADO templates, why do we need this?' — this isn't replacing ADO templates, it's moving reusable execution logic below the CI platform layer entirely, so the same logic survives a platform change.</a:t>
            </a:r>
          </a:p>
          <a:p>
            <a:endParaRPr/>
          </a:p>
          <a:p>
            <a:r>
              <a:t>'Isn't this just another tool to learn?' — yes, but deliberately a small one; the entire developer-facing surface is `task build`, `task test`, `task deploy`.</a:t>
            </a:r>
          </a:p>
          <a:p>
            <a:endParaRPr/>
          </a:p>
          <a:p>
            <a:r>
              <a:t>'Why not just wait for GitHub and skip this step?' — GitHub Actions solves the CI platform problem, but it doesn't solve execution portability, which is a different problem; if we don't solve it now, we'll be solving it under time pressure during the GitHub cutover instead.</a:t>
            </a:r>
          </a:p>
          <a:p>
            <a:endParaRPr/>
          </a:p>
          <a:p>
            <a:r>
              <a:t>'Why not Dagger instead?' — Dagger is genuinely stronger for container-native workloads, but it requires infrastructure we don't have yet: Linux runners, BuildKit, a registry strategy. Taskfile is the lower-friction option that fits the estate we actually run today, and Dagger remains a good candidate for a focused proof-of-concept later, on its own timeline.</a:t>
            </a:r>
          </a:p>
          <a:p>
            <a:endParaRPr/>
          </a:p>
          <a:p>
            <a:r>
              <a:t>With that, I'll open it up for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A2E"/>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914400" cy="82296"/>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514600"/>
            <a:ext cx="10515600" cy="2011680"/>
          </a:xfrm>
          <a:prstGeom prst="rect">
            <a:avLst/>
          </a:prstGeom>
          <a:noFill/>
        </p:spPr>
        <p:txBody>
          <a:bodyPr wrap="square">
            <a:spAutoFit/>
          </a:bodyPr>
          <a:lstStyle/>
          <a:p>
            <a:r>
              <a:rPr sz="4000" b="1">
                <a:solidFill>
                  <a:srgbClr val="FFFFFF"/>
                </a:solidFill>
                <a:latin typeface="Segoe UI"/>
              </a:rPr>
              <a:t>Taskfile as the CI/CD Execution Layer</a:t>
            </a:r>
          </a:p>
          <a:p>
            <a:pPr>
              <a:spcBef>
                <a:spcPts val="1400"/>
              </a:spcBef>
            </a:pPr>
            <a:r>
              <a:rPr sz="1800">
                <a:solidFill>
                  <a:srgbClr val="C3C2B7"/>
                </a:solidFill>
                <a:latin typeface="Segoe UI"/>
              </a:rPr>
              <a:t>A thin-orchestration abstraction for Azure DevOps today, GitHub Actions tomorrow</a:t>
            </a:r>
          </a:p>
        </p:txBody>
      </p:sp>
      <p:sp>
        <p:nvSpPr>
          <p:cNvPr id="4" name="TextBox 3"/>
          <p:cNvSpPr txBox="1"/>
          <p:nvPr/>
        </p:nvSpPr>
        <p:spPr>
          <a:xfrm>
            <a:off x="822960" y="5943600"/>
            <a:ext cx="10515600" cy="548640"/>
          </a:xfrm>
          <a:prstGeom prst="rect">
            <a:avLst/>
          </a:prstGeom>
          <a:noFill/>
        </p:spPr>
        <p:txBody>
          <a:bodyPr wrap="none">
            <a:spAutoFit/>
          </a:bodyPr>
          <a:lstStyle/>
          <a:p>
            <a:r>
              <a:rPr sz="1400">
                <a:solidFill>
                  <a:srgbClr val="898781"/>
                </a:solidFill>
                <a:latin typeface="Segoe UI"/>
              </a:rPr>
              <a:t>Platform Engineering  |  Technical Management Review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OVERVIEW</a:t>
            </a:r>
          </a:p>
          <a:p>
            <a:r>
              <a:rPr sz="2800" b="1">
                <a:solidFill>
                  <a:srgbClr val="0B0B0B"/>
                </a:solidFill>
                <a:latin typeface="Segoe UI"/>
              </a:rPr>
              <a:t>Agenda</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Agenda</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a:t>
            </a:r>
          </a:p>
        </p:txBody>
      </p:sp>
      <p:sp>
        <p:nvSpPr>
          <p:cNvPr id="7" name="TextBox 6"/>
          <p:cNvSpPr txBox="1"/>
          <p:nvPr/>
        </p:nvSpPr>
        <p:spPr>
          <a:xfrm>
            <a:off x="713232" y="1645920"/>
            <a:ext cx="5257800" cy="457200"/>
          </a:xfrm>
          <a:prstGeom prst="rect">
            <a:avLst/>
          </a:prstGeom>
          <a:noFill/>
        </p:spPr>
        <p:txBody>
          <a:bodyPr wrap="none">
            <a:spAutoFit/>
          </a:bodyPr>
          <a:lstStyle/>
          <a:p>
            <a:r>
              <a:rPr sz="1700" b="1">
                <a:solidFill>
                  <a:srgbClr val="0B0B0B"/>
                </a:solidFill>
                <a:latin typeface="Segoe UI"/>
              </a:rPr>
              <a:t>Topics 1–6</a:t>
            </a:r>
          </a:p>
        </p:txBody>
      </p:sp>
      <p:sp>
        <p:nvSpPr>
          <p:cNvPr id="8" name="Rectangle 7"/>
          <p:cNvSpPr/>
          <p:nvPr/>
        </p:nvSpPr>
        <p:spPr>
          <a:xfrm>
            <a:off x="713232" y="2029968"/>
            <a:ext cx="5257800" cy="254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194560"/>
            <a:ext cx="5257800" cy="4023360"/>
          </a:xfrm>
          <a:prstGeom prst="rect">
            <a:avLst/>
          </a:prstGeom>
          <a:noFill/>
        </p:spPr>
        <p:txBody>
          <a:bodyPr wrap="square">
            <a:spAutoFit/>
          </a:bodyPr>
          <a:lstStyle/>
          <a:p>
            <a:pPr>
              <a:spcAft>
                <a:spcPts val="800"/>
              </a:spcAft>
            </a:pPr>
            <a:r>
              <a:rPr sz="1600">
                <a:solidFill>
                  <a:srgbClr val="52514E"/>
                </a:solidFill>
                <a:latin typeface="Segoe UI"/>
              </a:rPr>
              <a:t>• Context &amp; problem</a:t>
            </a:r>
          </a:p>
          <a:p>
            <a:pPr>
              <a:spcAft>
                <a:spcPts val="800"/>
              </a:spcAft>
            </a:pPr>
            <a:r>
              <a:rPr sz="1600">
                <a:solidFill>
                  <a:srgbClr val="52514E"/>
                </a:solidFill>
                <a:latin typeface="Segoe UI"/>
              </a:rPr>
              <a:t>• Current landscape</a:t>
            </a:r>
          </a:p>
          <a:p>
            <a:pPr>
              <a:spcAft>
                <a:spcPts val="800"/>
              </a:spcAft>
            </a:pPr>
            <a:r>
              <a:rPr sz="1600">
                <a:solidFill>
                  <a:srgbClr val="52514E"/>
                </a:solidFill>
                <a:latin typeface="Segoe UI"/>
              </a:rPr>
              <a:t>• The core architectural idea</a:t>
            </a:r>
          </a:p>
          <a:p>
            <a:pPr>
              <a:spcAft>
                <a:spcPts val="800"/>
              </a:spcAft>
            </a:pPr>
            <a:r>
              <a:rPr sz="1600">
                <a:solidFill>
                  <a:srgbClr val="52514E"/>
                </a:solidFill>
                <a:latin typeface="Segoe UI"/>
              </a:rPr>
              <a:t>• What is Taskfile</a:t>
            </a:r>
          </a:p>
          <a:p>
            <a:pPr>
              <a:spcAft>
                <a:spcPts val="800"/>
              </a:spcAft>
            </a:pPr>
            <a:r>
              <a:rPr sz="1600">
                <a:solidFill>
                  <a:srgbClr val="52514E"/>
                </a:solidFill>
                <a:latin typeface="Segoe UI"/>
              </a:rPr>
              <a:t>• Platform vs. application boundary</a:t>
            </a:r>
          </a:p>
          <a:p>
            <a:pPr>
              <a:spcAft>
                <a:spcPts val="800"/>
              </a:spcAft>
            </a:pPr>
            <a:r>
              <a:rPr sz="1600">
                <a:solidFill>
                  <a:srgbClr val="52514E"/>
                </a:solidFill>
                <a:latin typeface="Segoe UI"/>
              </a:rPr>
              <a:t>• Reusable Taskfile library — status: scaffolded &amp; validated</a:t>
            </a:r>
          </a:p>
        </p:txBody>
      </p:sp>
      <p:sp>
        <p:nvSpPr>
          <p:cNvPr id="10" name="TextBox 9"/>
          <p:cNvSpPr txBox="1"/>
          <p:nvPr/>
        </p:nvSpPr>
        <p:spPr>
          <a:xfrm>
            <a:off x="6245352" y="1645920"/>
            <a:ext cx="5257800" cy="457200"/>
          </a:xfrm>
          <a:prstGeom prst="rect">
            <a:avLst/>
          </a:prstGeom>
          <a:noFill/>
        </p:spPr>
        <p:txBody>
          <a:bodyPr wrap="none">
            <a:spAutoFit/>
          </a:bodyPr>
          <a:lstStyle/>
          <a:p>
            <a:r>
              <a:rPr sz="1700" b="1">
                <a:solidFill>
                  <a:srgbClr val="0B0B0B"/>
                </a:solidFill>
                <a:latin typeface="Segoe UI"/>
              </a:rPr>
              <a:t>Topics 7–12</a:t>
            </a:r>
          </a:p>
        </p:txBody>
      </p:sp>
      <p:sp>
        <p:nvSpPr>
          <p:cNvPr id="11" name="Rectangle 10"/>
          <p:cNvSpPr/>
          <p:nvPr/>
        </p:nvSpPr>
        <p:spPr>
          <a:xfrm>
            <a:off x="6245352" y="2029968"/>
            <a:ext cx="5257800" cy="25400"/>
          </a:xfrm>
          <a:prstGeom prst="rect">
            <a:avLst/>
          </a:prstGeom>
          <a:solidFill>
            <a:srgbClr val="5251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45352" y="2194560"/>
            <a:ext cx="5257800" cy="4023360"/>
          </a:xfrm>
          <a:prstGeom prst="rect">
            <a:avLst/>
          </a:prstGeom>
          <a:noFill/>
        </p:spPr>
        <p:txBody>
          <a:bodyPr wrap="square">
            <a:spAutoFit/>
          </a:bodyPr>
          <a:lstStyle/>
          <a:p>
            <a:pPr>
              <a:spcAft>
                <a:spcPts val="800"/>
              </a:spcAft>
            </a:pPr>
            <a:r>
              <a:rPr sz="1600">
                <a:solidFill>
                  <a:srgbClr val="52514E"/>
                </a:solidFill>
                <a:latin typeface="Segoe UI"/>
              </a:rPr>
              <a:t>• Azure DevOps integration (now)</a:t>
            </a:r>
          </a:p>
          <a:p>
            <a:pPr>
              <a:spcAft>
                <a:spcPts val="800"/>
              </a:spcAft>
            </a:pPr>
            <a:r>
              <a:rPr sz="1600">
                <a:solidFill>
                  <a:srgbClr val="52514E"/>
                </a:solidFill>
                <a:latin typeface="Segoe UI"/>
              </a:rPr>
              <a:t>• GitHub Actions readiness (later)</a:t>
            </a:r>
          </a:p>
          <a:p>
            <a:pPr>
              <a:spcAft>
                <a:spcPts val="800"/>
              </a:spcAft>
            </a:pPr>
            <a:r>
              <a:rPr sz="1600">
                <a:solidFill>
                  <a:srgbClr val="52514E"/>
                </a:solidFill>
                <a:latin typeface="Segoe UI"/>
              </a:rPr>
              <a:t>• Versioning &amp; governance</a:t>
            </a:r>
          </a:p>
          <a:p>
            <a:pPr>
              <a:spcAft>
                <a:spcPts val="800"/>
              </a:spcAft>
            </a:pPr>
            <a:r>
              <a:rPr sz="1600">
                <a:solidFill>
                  <a:srgbClr val="52514E"/>
                </a:solidFill>
                <a:latin typeface="Segoe UI"/>
              </a:rPr>
              <a:t>• Telemetry &amp; adoption visibility</a:t>
            </a:r>
          </a:p>
          <a:p>
            <a:pPr>
              <a:spcAft>
                <a:spcPts val="800"/>
              </a:spcAft>
            </a:pPr>
            <a:r>
              <a:rPr sz="1600">
                <a:solidFill>
                  <a:srgbClr val="52514E"/>
                </a:solidFill>
                <a:latin typeface="Segoe UI"/>
              </a:rPr>
              <a:t>• Pilot plan &amp; roadmap</a:t>
            </a:r>
          </a:p>
          <a:p>
            <a:pPr>
              <a:spcAft>
                <a:spcPts val="800"/>
              </a:spcAft>
            </a:pPr>
            <a:r>
              <a:rPr sz="1600">
                <a:solidFill>
                  <a:srgbClr val="52514E"/>
                </a:solidFill>
                <a:latin typeface="Segoe UI"/>
              </a:rPr>
              <a:t>• Decisions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1. CONTEXT</a:t>
            </a:r>
          </a:p>
          <a:p>
            <a:r>
              <a:rPr sz="2800" b="1">
                <a:solidFill>
                  <a:srgbClr val="0B0B0B"/>
                </a:solidFill>
                <a:latin typeface="Segoe UI"/>
              </a:rPr>
              <a:t>Why We're Doing This Now</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Context &amp; Problem</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2</a:t>
            </a:r>
          </a:p>
        </p:txBody>
      </p:sp>
      <p:sp>
        <p:nvSpPr>
          <p:cNvPr id="7" name="TextBox 6"/>
          <p:cNvSpPr txBox="1"/>
          <p:nvPr/>
        </p:nvSpPr>
        <p:spPr>
          <a:xfrm>
            <a:off x="713232" y="1645920"/>
            <a:ext cx="10789920" cy="4754880"/>
          </a:xfrm>
          <a:prstGeom prst="rect">
            <a:avLst/>
          </a:prstGeom>
          <a:noFill/>
        </p:spPr>
        <p:txBody>
          <a:bodyPr wrap="square">
            <a:spAutoFit/>
          </a:bodyPr>
          <a:lstStyle/>
          <a:p>
            <a:pPr>
              <a:spcAft>
                <a:spcPts val="1600"/>
              </a:spcAft>
            </a:pPr>
            <a:r>
              <a:rPr sz="2000" b="1">
                <a:solidFill>
                  <a:srgbClr val="0B0B0B"/>
                </a:solidFill>
                <a:latin typeface="Segoe UI"/>
              </a:rPr>
              <a:t>▸ Migrating 200+ Azure DevOps Classic Pipelines to Azure DevOps YAML</a:t>
            </a:r>
          </a:p>
          <a:p>
            <a:pPr>
              <a:spcAft>
                <a:spcPts val="1600"/>
              </a:spcAft>
            </a:pPr>
            <a:r>
              <a:rPr sz="2000" b="1">
                <a:solidFill>
                  <a:srgbClr val="0B0B0B"/>
                </a:solidFill>
                <a:latin typeface="Segoe UI"/>
              </a:rPr>
              <a:t>▸ GitHub Enterprise is expected org-wide in ~6 months, with GitHub Actions to follow</a:t>
            </a:r>
          </a:p>
          <a:p>
            <a:pPr>
              <a:spcAft>
                <a:spcPts val="1600"/>
              </a:spcAft>
            </a:pPr>
            <a:r>
              <a:rPr sz="2000" b="1">
                <a:solidFill>
                  <a:srgbClr val="0B0B0B"/>
                </a:solidFill>
                <a:latin typeface="Segoe UI"/>
              </a:rPr>
              <a:t>▸ Without an abstraction layer, business logic gets migrated twice: Classic → YAML → GitHub Actions</a:t>
            </a:r>
          </a:p>
          <a:p>
            <a:pPr>
              <a:spcAft>
                <a:spcPts val="1600"/>
              </a:spcAft>
            </a:pPr>
            <a:r>
              <a:rPr sz="2000" b="1">
                <a:solidFill>
                  <a:srgbClr val="0B0B0B"/>
                </a:solidFill>
                <a:latin typeface="Segoe UI"/>
              </a:rPr>
              <a:t>▸ Today, pipeline logic is tightly coupled to Azure DevOps: inline PowerShell, ADO-specific tasks, duplicated YAML across repos</a:t>
            </a:r>
          </a:p>
          <a:p>
            <a:pPr>
              <a:spcAft>
                <a:spcPts val="1600"/>
              </a:spcAft>
            </a:pPr>
            <a:r>
              <a:rPr sz="2000" b="1">
                <a:solidFill>
                  <a:srgbClr val="0B0B0B"/>
                </a:solidFill>
                <a:latin typeface="Segoe UI"/>
              </a:rPr>
              <a:t>▸ Goal: introduce one abstraction layer now that serves both platforms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1. CONTEXT</a:t>
            </a:r>
          </a:p>
          <a:p>
            <a:r>
              <a:rPr sz="2800" b="1">
                <a:solidFill>
                  <a:srgbClr val="0B0B0B"/>
                </a:solidFill>
                <a:latin typeface="Segoe UI"/>
              </a:rPr>
              <a:t>Current Landscape</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Current Landscape</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3</a:t>
            </a:r>
          </a:p>
        </p:txBody>
      </p:sp>
      <p:sp>
        <p:nvSpPr>
          <p:cNvPr id="7" name="TextBox 6"/>
          <p:cNvSpPr txBox="1"/>
          <p:nvPr/>
        </p:nvSpPr>
        <p:spPr>
          <a:xfrm>
            <a:off x="713232" y="1645920"/>
            <a:ext cx="5257800" cy="457200"/>
          </a:xfrm>
          <a:prstGeom prst="rect">
            <a:avLst/>
          </a:prstGeom>
          <a:noFill/>
        </p:spPr>
        <p:txBody>
          <a:bodyPr wrap="none">
            <a:spAutoFit/>
          </a:bodyPr>
          <a:lstStyle/>
          <a:p>
            <a:r>
              <a:rPr sz="1700" b="1">
                <a:solidFill>
                  <a:srgbClr val="0B0B0B"/>
                </a:solidFill>
                <a:latin typeface="Segoe UI"/>
              </a:rPr>
              <a:t>CI/CD &amp; Infrastructure</a:t>
            </a:r>
          </a:p>
        </p:txBody>
      </p:sp>
      <p:sp>
        <p:nvSpPr>
          <p:cNvPr id="8" name="Rectangle 7"/>
          <p:cNvSpPr/>
          <p:nvPr/>
        </p:nvSpPr>
        <p:spPr>
          <a:xfrm>
            <a:off x="713232" y="2029968"/>
            <a:ext cx="5257800" cy="254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194560"/>
            <a:ext cx="5257800" cy="4023360"/>
          </a:xfrm>
          <a:prstGeom prst="rect">
            <a:avLst/>
          </a:prstGeom>
          <a:noFill/>
        </p:spPr>
        <p:txBody>
          <a:bodyPr wrap="square">
            <a:spAutoFit/>
          </a:bodyPr>
          <a:lstStyle/>
          <a:p>
            <a:pPr>
              <a:spcAft>
                <a:spcPts val="800"/>
              </a:spcAft>
            </a:pPr>
            <a:r>
              <a:rPr sz="1600">
                <a:solidFill>
                  <a:srgbClr val="52514E"/>
                </a:solidFill>
                <a:latin typeface="Segoe UI"/>
              </a:rPr>
              <a:t>• 200+ Azure DevOps Classic Pipelines</a:t>
            </a:r>
          </a:p>
          <a:p>
            <a:pPr>
              <a:spcAft>
                <a:spcPts val="800"/>
              </a:spcAft>
            </a:pPr>
            <a:r>
              <a:rPr sz="1600">
                <a:solidFill>
                  <a:srgbClr val="52514E"/>
                </a:solidFill>
                <a:latin typeface="Segoe UI"/>
              </a:rPr>
              <a:t>• Azure DevOps Repos, self-hosted Windows agents</a:t>
            </a:r>
          </a:p>
          <a:p>
            <a:pPr>
              <a:spcAft>
                <a:spcPts val="800"/>
              </a:spcAft>
            </a:pPr>
            <a:r>
              <a:rPr sz="1600">
                <a:solidFill>
                  <a:srgbClr val="52514E"/>
                </a:solidFill>
                <a:latin typeface="Segoe UI"/>
              </a:rPr>
              <a:t>• Infrastructure mostly in Azure; some legacy in Telehouse</a:t>
            </a:r>
          </a:p>
          <a:p>
            <a:pPr>
              <a:spcAft>
                <a:spcPts val="800"/>
              </a:spcAft>
            </a:pPr>
            <a:r>
              <a:rPr sz="1600">
                <a:solidFill>
                  <a:srgbClr val="52514E"/>
                </a:solidFill>
                <a:latin typeface="Segoe UI"/>
              </a:rPr>
              <a:t>• Bicep is the standardized IaC</a:t>
            </a:r>
          </a:p>
        </p:txBody>
      </p:sp>
      <p:sp>
        <p:nvSpPr>
          <p:cNvPr id="10" name="TextBox 9"/>
          <p:cNvSpPr txBox="1"/>
          <p:nvPr/>
        </p:nvSpPr>
        <p:spPr>
          <a:xfrm>
            <a:off x="6245352" y="1645920"/>
            <a:ext cx="5257800" cy="457200"/>
          </a:xfrm>
          <a:prstGeom prst="rect">
            <a:avLst/>
          </a:prstGeom>
          <a:noFill/>
        </p:spPr>
        <p:txBody>
          <a:bodyPr wrap="none">
            <a:spAutoFit/>
          </a:bodyPr>
          <a:lstStyle/>
          <a:p>
            <a:r>
              <a:rPr sz="1700" b="1">
                <a:solidFill>
                  <a:srgbClr val="0B0B0B"/>
                </a:solidFill>
                <a:latin typeface="Segoe UI"/>
              </a:rPr>
              <a:t>Applications &amp; Automation</a:t>
            </a:r>
          </a:p>
        </p:txBody>
      </p:sp>
      <p:sp>
        <p:nvSpPr>
          <p:cNvPr id="11" name="Rectangle 10"/>
          <p:cNvSpPr/>
          <p:nvPr/>
        </p:nvSpPr>
        <p:spPr>
          <a:xfrm>
            <a:off x="6245352" y="2029968"/>
            <a:ext cx="5257800" cy="25400"/>
          </a:xfrm>
          <a:prstGeom prst="rect">
            <a:avLst/>
          </a:prstGeom>
          <a:solidFill>
            <a:srgbClr val="5251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45352" y="2194560"/>
            <a:ext cx="5257800" cy="4023360"/>
          </a:xfrm>
          <a:prstGeom prst="rect">
            <a:avLst/>
          </a:prstGeom>
          <a:noFill/>
        </p:spPr>
        <p:txBody>
          <a:bodyPr wrap="square">
            <a:spAutoFit/>
          </a:bodyPr>
          <a:lstStyle/>
          <a:p>
            <a:pPr>
              <a:spcAft>
                <a:spcPts val="800"/>
              </a:spcAft>
            </a:pPr>
            <a:r>
              <a:rPr sz="1600">
                <a:solidFill>
                  <a:srgbClr val="52514E"/>
                </a:solidFill>
                <a:latin typeface="Segoe UI"/>
              </a:rPr>
              <a:t>• ~80–85% .NET applications</a:t>
            </a:r>
          </a:p>
          <a:p>
            <a:pPr>
              <a:spcAft>
                <a:spcPts val="800"/>
              </a:spcAft>
            </a:pPr>
            <a:r>
              <a:rPr sz="1600">
                <a:solidFill>
                  <a:srgbClr val="52514E"/>
                </a:solidFill>
                <a:latin typeface="Segoe UI"/>
              </a:rPr>
              <a:t>• Remainder: Python and other stacks</a:t>
            </a:r>
          </a:p>
          <a:p>
            <a:pPr>
              <a:spcAft>
                <a:spcPts val="800"/>
              </a:spcAft>
            </a:pPr>
            <a:r>
              <a:rPr sz="1600">
                <a:solidFill>
                  <a:srgbClr val="52514E"/>
                </a:solidFill>
                <a:latin typeface="Segoe UI"/>
              </a:rPr>
              <a:t>• PowerShell is the primary automation language</a:t>
            </a:r>
          </a:p>
          <a:p>
            <a:pPr>
              <a:spcAft>
                <a:spcPts val="800"/>
              </a:spcAft>
            </a:pPr>
            <a:r>
              <a:rPr sz="1600">
                <a:solidFill>
                  <a:srgbClr val="52514E"/>
                </a:solidFill>
                <a:latin typeface="Segoe UI"/>
              </a:rPr>
              <a:t>• dotnet, MSBuild, NuGet, custom deployment scripts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2. APPROACH</a:t>
            </a:r>
          </a:p>
          <a:p>
            <a:r>
              <a:rPr sz="2800" b="1">
                <a:solidFill>
                  <a:srgbClr val="0B0B0B"/>
                </a:solidFill>
                <a:latin typeface="Segoe UI"/>
              </a:rPr>
              <a:t>The Core Architectural Idea</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Core Architecture</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4</a:t>
            </a:r>
          </a:p>
        </p:txBody>
      </p:sp>
      <p:sp>
        <p:nvSpPr>
          <p:cNvPr id="7" name="Rounded Rectangle 6"/>
          <p:cNvSpPr/>
          <p:nvPr/>
        </p:nvSpPr>
        <p:spPr>
          <a:xfrm>
            <a:off x="713232" y="1554480"/>
            <a:ext cx="10789920" cy="3840480"/>
          </a:xfrm>
          <a:prstGeom prst="roundRect">
            <a:avLst>
              <a:gd name="adj" fmla="val 3000"/>
            </a:avLst>
          </a:prstGeom>
          <a:solidFill>
            <a:srgbClr val="1A1A19"/>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r>
              <a:rPr sz="1500">
                <a:solidFill>
                  <a:srgbClr val="E5E5E0"/>
                </a:solidFill>
                <a:latin typeface="Consolas"/>
              </a:rPr>
              <a:t>                    Azure DevOps  /  GitHub Actions</a:t>
            </a:r>
          </a:p>
          <a:p>
            <a:r>
              <a:rPr sz="1500">
                <a:solidFill>
                  <a:srgbClr val="E5E5E0"/>
                </a:solidFill>
                <a:latin typeface="Consolas"/>
              </a:rPr>
              <a:t>                    ------------------------------</a:t>
            </a:r>
          </a:p>
          <a:p>
            <a:r>
              <a:rPr sz="1500">
                <a:solidFill>
                  <a:srgbClr val="E5E5E0"/>
                </a:solidFill>
                <a:latin typeface="Consolas"/>
              </a:rPr>
              <a:t>                              orchestration</a:t>
            </a:r>
          </a:p>
          <a:p>
            <a:r>
              <a:rPr sz="1500">
                <a:solidFill>
                  <a:srgbClr val="E5E5E0"/>
                </a:solidFill>
                <a:latin typeface="Consolas"/>
              </a:rPr>
              <a:t>                                    |</a:t>
            </a:r>
          </a:p>
          <a:p>
            <a:r>
              <a:rPr sz="1500">
                <a:solidFill>
                  <a:srgbClr val="E5E5E0"/>
                </a:solidFill>
                <a:latin typeface="Consolas"/>
              </a:rPr>
              <a:t>                                    v</a:t>
            </a:r>
          </a:p>
          <a:p>
            <a:r>
              <a:rPr sz="1500">
                <a:solidFill>
                  <a:srgbClr val="E5E5E0"/>
                </a:solidFill>
                <a:latin typeface="Consolas"/>
              </a:rPr>
              <a:t>                              +-----------+</a:t>
            </a:r>
          </a:p>
          <a:p>
            <a:r>
              <a:rPr sz="1500">
                <a:solidFill>
                  <a:srgbClr val="E5E5E0"/>
                </a:solidFill>
                <a:latin typeface="Consolas"/>
              </a:rPr>
              <a:t>                              |  Taskfile |</a:t>
            </a:r>
          </a:p>
          <a:p>
            <a:r>
              <a:rPr sz="1500">
                <a:solidFill>
                  <a:srgbClr val="E5E5E0"/>
                </a:solidFill>
                <a:latin typeface="Consolas"/>
              </a:rPr>
              <a:t>                              +-----+-----+</a:t>
            </a:r>
          </a:p>
          <a:p>
            <a:r>
              <a:rPr sz="1500">
                <a:solidFill>
                  <a:srgbClr val="E5E5E0"/>
                </a:solidFill>
                <a:latin typeface="Consolas"/>
              </a:rPr>
              <a:t>                                    |</a:t>
            </a:r>
          </a:p>
          <a:p>
            <a:r>
              <a:rPr sz="1500">
                <a:solidFill>
                  <a:srgbClr val="E5E5E0"/>
                </a:solidFill>
                <a:latin typeface="Consolas"/>
              </a:rPr>
              <a:t>                  +-----------------+-----------------+</a:t>
            </a:r>
          </a:p>
          <a:p>
            <a:r>
              <a:rPr sz="1500">
                <a:solidFill>
                  <a:srgbClr val="E5E5E0"/>
                </a:solidFill>
                <a:latin typeface="Consolas"/>
              </a:rPr>
              <a:t>                  v                 v                 v</a:t>
            </a:r>
          </a:p>
          <a:p>
            <a:r>
              <a:rPr sz="1500">
                <a:solidFill>
                  <a:srgbClr val="E5E5E0"/>
                </a:solidFill>
                <a:latin typeface="Consolas"/>
              </a:rPr>
              <a:t>             .NET Build       Security Scan       Deploy (Bicep)</a:t>
            </a:r>
          </a:p>
          <a:p>
            <a:r>
              <a:rPr sz="1500">
                <a:solidFill>
                  <a:srgbClr val="E5E5E0"/>
                </a:solidFill>
                <a:latin typeface="Consolas"/>
              </a:rPr>
              <a:t>                  |                 |                 |</a:t>
            </a:r>
          </a:p>
          <a:p>
            <a:r>
              <a:rPr sz="1500">
                <a:solidFill>
                  <a:srgbClr val="E5E5E0"/>
                </a:solidFill>
                <a:latin typeface="Consolas"/>
              </a:rPr>
              <a:t>                  +-----------------+-----------------+</a:t>
            </a:r>
          </a:p>
          <a:p>
            <a:r>
              <a:rPr sz="1500">
                <a:solidFill>
                  <a:srgbClr val="E5E5E0"/>
                </a:solidFill>
                <a:latin typeface="Consolas"/>
              </a:rPr>
              <a:t>                                    v</a:t>
            </a:r>
          </a:p>
          <a:p>
            <a:r>
              <a:rPr sz="1500">
                <a:solidFill>
                  <a:srgbClr val="E5E5E0"/>
                </a:solidFill>
                <a:latin typeface="Consolas"/>
              </a:rPr>
              <a:t>                               Application</a:t>
            </a:r>
          </a:p>
        </p:txBody>
      </p:sp>
      <p:sp>
        <p:nvSpPr>
          <p:cNvPr id="8" name="TextBox 7"/>
          <p:cNvSpPr txBox="1"/>
          <p:nvPr/>
        </p:nvSpPr>
        <p:spPr>
          <a:xfrm>
            <a:off x="713232" y="5989320"/>
            <a:ext cx="10789920" cy="365760"/>
          </a:xfrm>
          <a:prstGeom prst="rect">
            <a:avLst/>
          </a:prstGeom>
          <a:noFill/>
        </p:spPr>
        <p:txBody>
          <a:bodyPr wrap="square">
            <a:spAutoFit/>
          </a:bodyPr>
          <a:lstStyle/>
          <a:p>
            <a:r>
              <a:rPr sz="1200" i="1">
                <a:solidFill>
                  <a:srgbClr val="898781"/>
                </a:solidFill>
                <a:latin typeface="Segoe UI"/>
              </a:rPr>
              <a:t>"CI/CD platform orchestrates. Taskfile executes." — the pipeline YAML stops owning business logic.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2. APPROACH</a:t>
            </a:r>
          </a:p>
          <a:p>
            <a:r>
              <a:rPr sz="2800" b="1">
                <a:solidFill>
                  <a:srgbClr val="0B0B0B"/>
                </a:solidFill>
                <a:latin typeface="Segoe UI"/>
              </a:rPr>
              <a:t>What Is Taskfile?</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What is Taskfile</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5</a:t>
            </a:r>
          </a:p>
        </p:txBody>
      </p:sp>
      <p:sp>
        <p:nvSpPr>
          <p:cNvPr id="7" name="TextBox 6"/>
          <p:cNvSpPr txBox="1"/>
          <p:nvPr/>
        </p:nvSpPr>
        <p:spPr>
          <a:xfrm>
            <a:off x="713232" y="1645920"/>
            <a:ext cx="10789920" cy="4754880"/>
          </a:xfrm>
          <a:prstGeom prst="rect">
            <a:avLst/>
          </a:prstGeom>
          <a:noFill/>
        </p:spPr>
        <p:txBody>
          <a:bodyPr wrap="square">
            <a:spAutoFit/>
          </a:bodyPr>
          <a:lstStyle/>
          <a:p>
            <a:pPr>
              <a:spcAft>
                <a:spcPts val="1400"/>
              </a:spcAft>
            </a:pPr>
            <a:r>
              <a:rPr sz="2000" b="1">
                <a:solidFill>
                  <a:srgbClr val="0B0B0B"/>
                </a:solidFill>
                <a:latin typeface="Segoe UI"/>
              </a:rPr>
              <a:t>▸ A YAML-based task runner / build-automation tool</a:t>
            </a:r>
          </a:p>
          <a:p>
            <a:pPr>
              <a:spcAft>
                <a:spcPts val="1400"/>
              </a:spcAft>
            </a:pPr>
            <a:r>
              <a:rPr sz="2000" b="1">
                <a:solidFill>
                  <a:srgbClr val="0B0B0B"/>
                </a:solidFill>
                <a:latin typeface="Segoe UI"/>
              </a:rPr>
              <a:t>▸ It does not replace dotnet, npm, az, kubectl, PowerShell, or Bash — it orchestrates them</a:t>
            </a:r>
          </a:p>
          <a:p>
            <a:pPr>
              <a:spcAft>
                <a:spcPts val="1400"/>
              </a:spcAft>
            </a:pPr>
            <a:r>
              <a:rPr sz="2000" b="1">
                <a:solidFill>
                  <a:srgbClr val="0B0B0B"/>
                </a:solidFill>
                <a:latin typeface="Segoe UI"/>
              </a:rPr>
              <a:t>▸ Tasks, dependencies, variables, and environment are declared once, run anywhere</a:t>
            </a:r>
          </a:p>
          <a:p>
            <a:pPr>
              <a:spcAft>
                <a:spcPts val="1400"/>
              </a:spcAft>
            </a:pPr>
            <a:r>
              <a:rPr sz="2000" b="1">
                <a:solidFill>
                  <a:srgbClr val="0B0B0B"/>
                </a:solidFill>
                <a:latin typeface="Segoe UI"/>
              </a:rPr>
              <a:t>▸ Same command runs on a developer laptop and inside CI:</a:t>
            </a:r>
          </a:p>
        </p:txBody>
      </p:sp>
      <p:sp>
        <p:nvSpPr>
          <p:cNvPr id="8" name="Rounded Rectangle 7"/>
          <p:cNvSpPr/>
          <p:nvPr/>
        </p:nvSpPr>
        <p:spPr>
          <a:xfrm>
            <a:off x="713232" y="4480560"/>
            <a:ext cx="10789920" cy="1371600"/>
          </a:xfrm>
          <a:prstGeom prst="roundRect">
            <a:avLst>
              <a:gd name="adj" fmla="val 3000"/>
            </a:avLst>
          </a:prstGeom>
          <a:solidFill>
            <a:srgbClr val="1A1A19"/>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r>
              <a:rPr sz="1600">
                <a:solidFill>
                  <a:srgbClr val="E5E5E0"/>
                </a:solidFill>
                <a:latin typeface="Consolas"/>
              </a:rPr>
              <a:t>task build</a:t>
            </a:r>
          </a:p>
          <a:p>
            <a:r>
              <a:rPr sz="1600">
                <a:solidFill>
                  <a:srgbClr val="E5E5E0"/>
                </a:solidFill>
                <a:latin typeface="Consolas"/>
              </a:rPr>
              <a:t>task test</a:t>
            </a:r>
          </a:p>
          <a:p>
            <a:r>
              <a:rPr sz="1600">
                <a:solidFill>
                  <a:srgbClr val="E5E5E0"/>
                </a:solidFill>
                <a:latin typeface="Consolas"/>
              </a:rPr>
              <a:t>task ci</a:t>
            </a:r>
          </a:p>
          <a:p>
            <a:r>
              <a:rPr sz="1600">
                <a:solidFill>
                  <a:srgbClr val="E5E5E0"/>
                </a:solidFill>
                <a:latin typeface="Consolas"/>
              </a:rPr>
              <a:t>task --list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2. APPROACH</a:t>
            </a:r>
          </a:p>
          <a:p>
            <a:r>
              <a:rPr sz="2800" b="1">
                <a:solidFill>
                  <a:srgbClr val="0B0B0B"/>
                </a:solidFill>
                <a:latin typeface="Segoe UI"/>
              </a:rPr>
              <a:t>From Inline YAML to Composable Tasks</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Basic Example</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6</a:t>
            </a:r>
          </a:p>
        </p:txBody>
      </p:sp>
      <p:sp>
        <p:nvSpPr>
          <p:cNvPr id="7" name="Rounded Rectangle 6"/>
          <p:cNvSpPr/>
          <p:nvPr/>
        </p:nvSpPr>
        <p:spPr>
          <a:xfrm>
            <a:off x="713232" y="1645920"/>
            <a:ext cx="6309360" cy="3931920"/>
          </a:xfrm>
          <a:prstGeom prst="roundRect">
            <a:avLst>
              <a:gd name="adj" fmla="val 3000"/>
            </a:avLst>
          </a:prstGeom>
          <a:solidFill>
            <a:srgbClr val="1A1A19"/>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r>
              <a:rPr sz="1500">
                <a:solidFill>
                  <a:srgbClr val="E5E5E0"/>
                </a:solidFill>
                <a:latin typeface="Consolas"/>
              </a:rPr>
              <a:t>version: '3'</a:t>
            </a:r>
          </a:p>
          <a:p>
            <a:r>
              <a:rPr sz="1500">
                <a:solidFill>
                  <a:srgbClr val="E5E5E0"/>
                </a:solidFill>
                <a:latin typeface="Consolas"/>
              </a:rPr>
              <a:t> </a:t>
            </a:r>
          </a:p>
          <a:p>
            <a:r>
              <a:rPr sz="1500">
                <a:solidFill>
                  <a:srgbClr val="E5E5E0"/>
                </a:solidFill>
                <a:latin typeface="Consolas"/>
              </a:rPr>
              <a:t>tasks:</a:t>
            </a:r>
          </a:p>
          <a:p>
            <a:r>
              <a:rPr sz="1500">
                <a:solidFill>
                  <a:srgbClr val="E5E5E0"/>
                </a:solidFill>
                <a:latin typeface="Consolas"/>
              </a:rPr>
              <a:t> </a:t>
            </a:r>
          </a:p>
          <a:p>
            <a:r>
              <a:rPr sz="1500">
                <a:solidFill>
                  <a:srgbClr val="E5E5E0"/>
                </a:solidFill>
                <a:latin typeface="Consolas"/>
              </a:rPr>
              <a:t>  ci:</a:t>
            </a:r>
          </a:p>
          <a:p>
            <a:r>
              <a:rPr sz="1500">
                <a:solidFill>
                  <a:srgbClr val="E5E5E0"/>
                </a:solidFill>
                <a:latin typeface="Consolas"/>
              </a:rPr>
              <a:t>    deps:</a:t>
            </a:r>
          </a:p>
          <a:p>
            <a:r>
              <a:rPr sz="1500">
                <a:solidFill>
                  <a:srgbClr val="E5E5E0"/>
                </a:solidFill>
                <a:latin typeface="Consolas"/>
              </a:rPr>
              <a:t>      - restore</a:t>
            </a:r>
          </a:p>
          <a:p>
            <a:r>
              <a:rPr sz="1500">
                <a:solidFill>
                  <a:srgbClr val="E5E5E0"/>
                </a:solidFill>
                <a:latin typeface="Consolas"/>
              </a:rPr>
              <a:t>      - build</a:t>
            </a:r>
          </a:p>
          <a:p>
            <a:r>
              <a:rPr sz="1500">
                <a:solidFill>
                  <a:srgbClr val="E5E5E0"/>
                </a:solidFill>
                <a:latin typeface="Consolas"/>
              </a:rPr>
              <a:t>      - test</a:t>
            </a:r>
          </a:p>
        </p:txBody>
      </p:sp>
      <p:sp>
        <p:nvSpPr>
          <p:cNvPr id="8" name="Rounded Rectangle 7"/>
          <p:cNvSpPr/>
          <p:nvPr/>
        </p:nvSpPr>
        <p:spPr>
          <a:xfrm>
            <a:off x="7223760" y="1645920"/>
            <a:ext cx="4251960" cy="3931920"/>
          </a:xfrm>
          <a:prstGeom prst="roundRect">
            <a:avLst>
              <a:gd name="adj" fmla="val 3000"/>
            </a:avLst>
          </a:prstGeom>
          <a:solidFill>
            <a:srgbClr val="1A1A19"/>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r>
              <a:rPr sz="1600">
                <a:solidFill>
                  <a:srgbClr val="E5E5E0"/>
                </a:solidFill>
                <a:latin typeface="Consolas"/>
              </a:rPr>
              <a:t>restore</a:t>
            </a:r>
          </a:p>
          <a:p>
            <a:r>
              <a:rPr sz="1600">
                <a:solidFill>
                  <a:srgbClr val="E5E5E0"/>
                </a:solidFill>
                <a:latin typeface="Consolas"/>
              </a:rPr>
              <a:t>   |</a:t>
            </a:r>
          </a:p>
          <a:p>
            <a:r>
              <a:rPr sz="1600">
                <a:solidFill>
                  <a:srgbClr val="E5E5E0"/>
                </a:solidFill>
                <a:latin typeface="Consolas"/>
              </a:rPr>
              <a:t>   v</a:t>
            </a:r>
          </a:p>
          <a:p>
            <a:r>
              <a:rPr sz="1600">
                <a:solidFill>
                  <a:srgbClr val="E5E5E0"/>
                </a:solidFill>
                <a:latin typeface="Consolas"/>
              </a:rPr>
              <a:t> build</a:t>
            </a:r>
          </a:p>
          <a:p>
            <a:r>
              <a:rPr sz="1600">
                <a:solidFill>
                  <a:srgbClr val="E5E5E0"/>
                </a:solidFill>
                <a:latin typeface="Consolas"/>
              </a:rPr>
              <a:t>   |</a:t>
            </a:r>
          </a:p>
          <a:p>
            <a:r>
              <a:rPr sz="1600">
                <a:solidFill>
                  <a:srgbClr val="E5E5E0"/>
                </a:solidFill>
                <a:latin typeface="Consolas"/>
              </a:rPr>
              <a:t>   v</a:t>
            </a:r>
          </a:p>
          <a:p>
            <a:r>
              <a:rPr sz="1600">
                <a:solidFill>
                  <a:srgbClr val="E5E5E0"/>
                </a:solidFill>
                <a:latin typeface="Consolas"/>
              </a:rPr>
              <a:t> test</a:t>
            </a:r>
          </a:p>
        </p:txBody>
      </p:sp>
      <p:sp>
        <p:nvSpPr>
          <p:cNvPr id="9" name="TextBox 8"/>
          <p:cNvSpPr txBox="1"/>
          <p:nvPr/>
        </p:nvSpPr>
        <p:spPr>
          <a:xfrm>
            <a:off x="713232" y="5989320"/>
            <a:ext cx="10789920" cy="365760"/>
          </a:xfrm>
          <a:prstGeom prst="rect">
            <a:avLst/>
          </a:prstGeom>
          <a:noFill/>
        </p:spPr>
        <p:txBody>
          <a:bodyPr wrap="square">
            <a:spAutoFit/>
          </a:bodyPr>
          <a:lstStyle/>
          <a:p>
            <a:r>
              <a:rPr sz="1200" i="1">
                <a:solidFill>
                  <a:srgbClr val="898781"/>
                </a:solidFill>
                <a:latin typeface="Segoe UI"/>
              </a:rPr>
              <a:t>task ci  →  executes restore, build, test in order. Business logic now lives in the Taskfile, not the pipeline YAML.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2. APPROACH</a:t>
            </a:r>
          </a:p>
          <a:p>
            <a:r>
              <a:rPr sz="2800" b="1">
                <a:solidFill>
                  <a:srgbClr val="0B0B0B"/>
                </a:solidFill>
                <a:latin typeface="Segoe UI"/>
              </a:rPr>
              <a:t>Platform vs. Application Boundary</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Platform Boundary</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7</a:t>
            </a:r>
          </a:p>
        </p:txBody>
      </p:sp>
      <p:graphicFrame>
        <p:nvGraphicFramePr>
          <p:cNvPr id="7" name="Table 6"/>
          <p:cNvGraphicFramePr>
            <a:graphicFrameLocks noGrp="1"/>
          </p:cNvGraphicFramePr>
          <p:nvPr/>
        </p:nvGraphicFramePr>
        <p:xfrm>
          <a:off x="713232" y="1645920"/>
          <a:ext cx="10789920" cy="2377440"/>
        </p:xfrm>
        <a:graphic>
          <a:graphicData uri="http://schemas.openxmlformats.org/drawingml/2006/table">
            <a:tbl>
              <a:tblPr firstRow="1" bandRow="1">
                <a:tableStyleId>{5C22544A-7EE6-4342-B048-85BDC9FD1C3A}</a:tableStyleId>
              </a:tblPr>
              <a:tblGrid>
                <a:gridCol w="539496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tblGrid>
              <a:tr h="475488">
                <a:tc>
                  <a:txBody>
                    <a:bodyPr/>
                    <a:lstStyle/>
                    <a:p>
                      <a:pPr algn="l"/>
                      <a:r>
                        <a:rPr sz="1400" b="1">
                          <a:solidFill>
                            <a:srgbClr val="FFFFFF"/>
                          </a:solidFill>
                          <a:latin typeface="Segoe UI"/>
                        </a:rPr>
                        <a:t>Owned by Platform Library</a:t>
                      </a:r>
                    </a:p>
                  </a:txBody>
                  <a:tcPr anchor="ctr">
                    <a:solidFill>
                      <a:srgbClr val="2A78D6"/>
                    </a:solidFill>
                  </a:tcPr>
                </a:tc>
                <a:tc>
                  <a:txBody>
                    <a:bodyPr/>
                    <a:lstStyle/>
                    <a:p>
                      <a:pPr algn="l"/>
                      <a:r>
                        <a:rPr sz="1400" b="1">
                          <a:solidFill>
                            <a:srgbClr val="FFFFFF"/>
                          </a:solidFill>
                          <a:latin typeface="Segoe UI"/>
                        </a:rPr>
                        <a:t>Owned by Application Taskfile</a:t>
                      </a:r>
                    </a:p>
                  </a:txBody>
                  <a:tcPr anchor="ctr">
                    <a:solidFill>
                      <a:srgbClr val="2A78D6"/>
                    </a:solidFill>
                  </a:tcPr>
                </a:tc>
                <a:extLst>
                  <a:ext uri="{0D108BD9-81ED-4DB2-BD59-A6C34878D82A}">
                    <a16:rowId xmlns:a16="http://schemas.microsoft.com/office/drawing/2014/main" val="10000"/>
                  </a:ext>
                </a:extLst>
              </a:tr>
              <a:tr h="475488">
                <a:tc>
                  <a:txBody>
                    <a:bodyPr/>
                    <a:lstStyle/>
                    <a:p>
                      <a:r>
                        <a:rPr sz="1400">
                          <a:solidFill>
                            <a:srgbClr val="0B0B0B"/>
                          </a:solidFill>
                          <a:latin typeface="Segoe UI"/>
                        </a:rPr>
                        <a:t>Build / test / scan / deploy logic</a:t>
                      </a:r>
                    </a:p>
                  </a:txBody>
                  <a:tcPr anchor="ctr">
                    <a:solidFill>
                      <a:srgbClr val="FCFCFB"/>
                    </a:solidFill>
                  </a:tcPr>
                </a:tc>
                <a:tc>
                  <a:txBody>
                    <a:bodyPr/>
                    <a:lstStyle/>
                    <a:p>
                      <a:r>
                        <a:rPr sz="1400">
                          <a:solidFill>
                            <a:srgbClr val="0B0B0B"/>
                          </a:solidFill>
                          <a:latin typeface="Segoe UI"/>
                        </a:rPr>
                        <a:t>App name, project, environment values</a:t>
                      </a:r>
                    </a:p>
                  </a:txBody>
                  <a:tcPr anchor="ctr">
                    <a:solidFill>
                      <a:srgbClr val="FCFCFB"/>
                    </a:solidFill>
                  </a:tcPr>
                </a:tc>
                <a:extLst>
                  <a:ext uri="{0D108BD9-81ED-4DB2-BD59-A6C34878D82A}">
                    <a16:rowId xmlns:a16="http://schemas.microsoft.com/office/drawing/2014/main" val="10001"/>
                  </a:ext>
                </a:extLst>
              </a:tr>
              <a:tr h="475488">
                <a:tc>
                  <a:txBody>
                    <a:bodyPr/>
                    <a:lstStyle/>
                    <a:p>
                      <a:r>
                        <a:rPr sz="1400">
                          <a:solidFill>
                            <a:srgbClr val="0B0B0B"/>
                          </a:solidFill>
                          <a:latin typeface="Segoe UI"/>
                        </a:rPr>
                        <a:t>Security thresholds, SBOM, signing</a:t>
                      </a:r>
                    </a:p>
                  </a:txBody>
                  <a:tcPr anchor="ctr">
                    <a:solidFill>
                      <a:srgbClr val="F2F1EE"/>
                    </a:solidFill>
                  </a:tcPr>
                </a:tc>
                <a:tc>
                  <a:txBody>
                    <a:bodyPr/>
                    <a:lstStyle/>
                    <a:p>
                      <a:r>
                        <a:rPr sz="1400">
                          <a:solidFill>
                            <a:srgbClr val="0B0B0B"/>
                          </a:solidFill>
                          <a:latin typeface="Segoe UI"/>
                        </a:rPr>
                        <a:t>Which capabilities to include</a:t>
                      </a:r>
                    </a:p>
                  </a:txBody>
                  <a:tcPr anchor="ctr">
                    <a:solidFill>
                      <a:srgbClr val="F2F1EE"/>
                    </a:solidFill>
                  </a:tcPr>
                </a:tc>
                <a:extLst>
                  <a:ext uri="{0D108BD9-81ED-4DB2-BD59-A6C34878D82A}">
                    <a16:rowId xmlns:a16="http://schemas.microsoft.com/office/drawing/2014/main" val="10002"/>
                  </a:ext>
                </a:extLst>
              </a:tr>
              <a:tr h="475488">
                <a:tc>
                  <a:txBody>
                    <a:bodyPr/>
                    <a:lstStyle/>
                    <a:p>
                      <a:r>
                        <a:rPr sz="1400">
                          <a:solidFill>
                            <a:srgbClr val="0B0B0B"/>
                          </a:solidFill>
                          <a:latin typeface="Segoe UI"/>
                        </a:rPr>
                        <a:t>Telemetry reporting</a:t>
                      </a:r>
                    </a:p>
                  </a:txBody>
                  <a:tcPr anchor="ctr">
                    <a:solidFill>
                      <a:srgbClr val="FCFCFB"/>
                    </a:solidFill>
                  </a:tcPr>
                </a:tc>
                <a:tc>
                  <a:txBody>
                    <a:bodyPr/>
                    <a:lstStyle/>
                    <a:p>
                      <a:r>
                        <a:rPr sz="1400">
                          <a:solidFill>
                            <a:srgbClr val="0B0B0B"/>
                          </a:solidFill>
                          <a:latin typeface="Segoe UI"/>
                        </a:rPr>
                        <a:t>Environment-specific variables</a:t>
                      </a:r>
                    </a:p>
                  </a:txBody>
                  <a:tcPr anchor="ctr">
                    <a:solidFill>
                      <a:srgbClr val="FCFCFB"/>
                    </a:solidFill>
                  </a:tcPr>
                </a:tc>
                <a:extLst>
                  <a:ext uri="{0D108BD9-81ED-4DB2-BD59-A6C34878D82A}">
                    <a16:rowId xmlns:a16="http://schemas.microsoft.com/office/drawing/2014/main" val="10003"/>
                  </a:ext>
                </a:extLst>
              </a:tr>
              <a:tr h="475488">
                <a:tc>
                  <a:txBody>
                    <a:bodyPr/>
                    <a:lstStyle/>
                    <a:p>
                      <a:r>
                        <a:rPr sz="1400">
                          <a:solidFill>
                            <a:srgbClr val="0B0B0B"/>
                          </a:solidFill>
                          <a:latin typeface="Segoe UI"/>
                        </a:rPr>
                        <a:t>Version compliance check</a:t>
                      </a:r>
                    </a:p>
                  </a:txBody>
                  <a:tcPr anchor="ctr">
                    <a:solidFill>
                      <a:srgbClr val="F2F1EE"/>
                    </a:solidFill>
                  </a:tcPr>
                </a:tc>
                <a:tc>
                  <a:txBody>
                    <a:bodyPr/>
                    <a:lstStyle/>
                    <a:p>
                      <a:r>
                        <a:rPr sz="1400">
                          <a:solidFill>
                            <a:srgbClr val="0B0B0B"/>
                          </a:solidFill>
                          <a:latin typeface="Segoe UI"/>
                        </a:rPr>
                        <a:t>—</a:t>
                      </a:r>
                    </a:p>
                  </a:txBody>
                  <a:tcPr anchor="ctr">
                    <a:solidFill>
                      <a:srgbClr val="F2F1EE"/>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713232" y="4297680"/>
            <a:ext cx="10789920" cy="365760"/>
          </a:xfrm>
          <a:prstGeom prst="rect">
            <a:avLst/>
          </a:prstGeom>
          <a:noFill/>
        </p:spPr>
        <p:txBody>
          <a:bodyPr wrap="square">
            <a:spAutoFit/>
          </a:bodyPr>
          <a:lstStyle/>
          <a:p>
            <a:r>
              <a:rPr sz="1200" i="1">
                <a:solidFill>
                  <a:srgbClr val="898781"/>
                </a:solidFill>
                <a:latin typeface="Segoe UI"/>
              </a:rPr>
              <a:t>Secrets are never stored in the Taskfile — they flow from ADO Variable Groups / Key Vault into environment variables at the pipeline step, so the same Taskfile is portable to GitHub Secrets / OIDC later.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3. DESIGN</a:t>
            </a:r>
          </a:p>
          <a:p>
            <a:r>
              <a:rPr sz="2800" b="1">
                <a:solidFill>
                  <a:srgbClr val="0B0B0B"/>
                </a:solidFill>
                <a:latin typeface="Segoe UI"/>
              </a:rPr>
              <a:t>Reusable Platform Taskfile Library</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Library Structure</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8</a:t>
            </a:r>
          </a:p>
        </p:txBody>
      </p:sp>
      <p:sp>
        <p:nvSpPr>
          <p:cNvPr id="7" name="Rounded Rectangle 6"/>
          <p:cNvSpPr/>
          <p:nvPr/>
        </p:nvSpPr>
        <p:spPr>
          <a:xfrm>
            <a:off x="713232" y="1600200"/>
            <a:ext cx="10789920" cy="3931920"/>
          </a:xfrm>
          <a:prstGeom prst="roundRect">
            <a:avLst>
              <a:gd name="adj" fmla="val 3000"/>
            </a:avLst>
          </a:prstGeom>
          <a:solidFill>
            <a:srgbClr val="1A1A19"/>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r>
              <a:rPr sz="1500">
                <a:solidFill>
                  <a:srgbClr val="E5E5E0"/>
                </a:solidFill>
                <a:latin typeface="Consolas"/>
              </a:rPr>
              <a:t>platform-taskfile-library/</a:t>
            </a:r>
          </a:p>
          <a:p>
            <a:r>
              <a:rPr sz="1500">
                <a:solidFill>
                  <a:srgbClr val="E5E5E0"/>
                </a:solidFill>
                <a:latin typeface="Consolas"/>
              </a:rPr>
              <a:t>├── Taskfile.yml            root: composes ci / cd</a:t>
            </a:r>
          </a:p>
          <a:p>
            <a:r>
              <a:rPr sz="1500">
                <a:solidFill>
                  <a:srgbClr val="E5E5E0"/>
                </a:solidFill>
                <a:latin typeface="Consolas"/>
              </a:rPr>
              <a:t>├── VERSION                 semver, single source of truth</a:t>
            </a:r>
          </a:p>
          <a:p>
            <a:r>
              <a:rPr sz="1500">
                <a:solidFill>
                  <a:srgbClr val="E5E5E0"/>
                </a:solidFill>
                <a:latin typeface="Consolas"/>
              </a:rPr>
              <a:t>├── build/       dotnet.yml, python.yml</a:t>
            </a:r>
          </a:p>
          <a:p>
            <a:r>
              <a:rPr sz="1500">
                <a:solidFill>
                  <a:srgbClr val="E5E5E0"/>
                </a:solidFill>
                <a:latin typeface="Consolas"/>
              </a:rPr>
              <a:t>├── test/        dotnet.yml, python.yml</a:t>
            </a:r>
          </a:p>
          <a:p>
            <a:r>
              <a:rPr sz="1500">
                <a:solidFill>
                  <a:srgbClr val="E5E5E0"/>
                </a:solidFill>
                <a:latin typeface="Consolas"/>
              </a:rPr>
              <a:t>├── security/    sast.yml, dependency-scan.yml</a:t>
            </a:r>
          </a:p>
          <a:p>
            <a:r>
              <a:rPr sz="1500">
                <a:solidFill>
                  <a:srgbClr val="E5E5E0"/>
                </a:solidFill>
                <a:latin typeface="Consolas"/>
              </a:rPr>
              <a:t>├── package/     nuget.yml</a:t>
            </a:r>
          </a:p>
          <a:p>
            <a:r>
              <a:rPr sz="1500">
                <a:solidFill>
                  <a:srgbClr val="E5E5E0"/>
                </a:solidFill>
                <a:latin typeface="Consolas"/>
              </a:rPr>
              <a:t>├── infra/       bicep.yml</a:t>
            </a:r>
          </a:p>
          <a:p>
            <a:r>
              <a:rPr sz="1500">
                <a:solidFill>
                  <a:srgbClr val="E5E5E0"/>
                </a:solidFill>
                <a:latin typeface="Consolas"/>
              </a:rPr>
              <a:t>├── deploy/      azure-appservice.yml, azure-function.yml</a:t>
            </a:r>
          </a:p>
          <a:p>
            <a:r>
              <a:rPr sz="1500">
                <a:solidFill>
                  <a:srgbClr val="E5E5E0"/>
                </a:solidFill>
                <a:latin typeface="Consolas"/>
              </a:rPr>
              <a:t>├── common/      version.yml, notifications.yml</a:t>
            </a:r>
          </a:p>
          <a:p>
            <a:r>
              <a:rPr sz="1500">
                <a:solidFill>
                  <a:srgbClr val="E5E5E0"/>
                </a:solidFill>
                <a:latin typeface="Consolas"/>
              </a:rPr>
              <a:t>└── telemetry/   telemetry.yml</a:t>
            </a:r>
          </a:p>
        </p:txBody>
      </p:sp>
      <p:sp>
        <p:nvSpPr>
          <p:cNvPr id="8" name="TextBox 7"/>
          <p:cNvSpPr txBox="1"/>
          <p:nvPr/>
        </p:nvSpPr>
        <p:spPr>
          <a:xfrm>
            <a:off x="713232" y="5989320"/>
            <a:ext cx="10789920" cy="365760"/>
          </a:xfrm>
          <a:prstGeom prst="rect">
            <a:avLst/>
          </a:prstGeom>
          <a:noFill/>
        </p:spPr>
        <p:txBody>
          <a:bodyPr wrap="square">
            <a:spAutoFit/>
          </a:bodyPr>
          <a:lstStyle/>
          <a:p>
            <a:r>
              <a:rPr sz="1200" i="1">
                <a:solidFill>
                  <a:srgbClr val="898781"/>
                </a:solidFill>
                <a:latin typeface="Segoe UI"/>
              </a:rPr>
              <a:t>Scaffolded and validated — `task --list-all` resolves 23 tasks across independently composable namespaces.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4. INTEGRATION</a:t>
            </a:r>
          </a:p>
          <a:p>
            <a:r>
              <a:rPr sz="2800" b="1">
                <a:solidFill>
                  <a:srgbClr val="0B0B0B"/>
                </a:solidFill>
                <a:latin typeface="Segoe UI"/>
              </a:rPr>
              <a:t>Azure DevOps: Thin Pipeline (Now)</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ADO Integration</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9</a:t>
            </a:r>
          </a:p>
        </p:txBody>
      </p:sp>
      <p:sp>
        <p:nvSpPr>
          <p:cNvPr id="7" name="Rounded Rectangle 6"/>
          <p:cNvSpPr/>
          <p:nvPr/>
        </p:nvSpPr>
        <p:spPr>
          <a:xfrm>
            <a:off x="713232" y="1600200"/>
            <a:ext cx="6675120" cy="4297680"/>
          </a:xfrm>
          <a:prstGeom prst="roundRect">
            <a:avLst>
              <a:gd name="adj" fmla="val 3000"/>
            </a:avLst>
          </a:prstGeom>
          <a:solidFill>
            <a:srgbClr val="1A1A19"/>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r>
              <a:rPr sz="1400">
                <a:solidFill>
                  <a:srgbClr val="E5E5E0"/>
                </a:solidFill>
                <a:latin typeface="Consolas"/>
              </a:rPr>
              <a:t>steps:</a:t>
            </a:r>
          </a:p>
          <a:p>
            <a:r>
              <a:rPr sz="1400">
                <a:solidFill>
                  <a:srgbClr val="E5E5E0"/>
                </a:solidFill>
                <a:latin typeface="Consolas"/>
              </a:rPr>
              <a:t>  - checkout: self</a:t>
            </a:r>
          </a:p>
          <a:p>
            <a:r>
              <a:rPr sz="1400">
                <a:solidFill>
                  <a:srgbClr val="E5E5E0"/>
                </a:solidFill>
                <a:latin typeface="Consolas"/>
              </a:rPr>
              <a:t> </a:t>
            </a:r>
          </a:p>
          <a:p>
            <a:r>
              <a:rPr sz="1400">
                <a:solidFill>
                  <a:srgbClr val="E5E5E0"/>
                </a:solidFill>
                <a:latin typeface="Consolas"/>
              </a:rPr>
              <a:t>  - task: UseDotNet@2</a:t>
            </a:r>
          </a:p>
          <a:p>
            <a:r>
              <a:rPr sz="1400">
                <a:solidFill>
                  <a:srgbClr val="E5E5E0"/>
                </a:solidFill>
                <a:latin typeface="Consolas"/>
              </a:rPr>
              <a:t>    inputs:</a:t>
            </a:r>
          </a:p>
          <a:p>
            <a:r>
              <a:rPr sz="1400">
                <a:solidFill>
                  <a:srgbClr val="E5E5E0"/>
                </a:solidFill>
                <a:latin typeface="Consolas"/>
              </a:rPr>
              <a:t>      version: '8.x'</a:t>
            </a:r>
          </a:p>
          <a:p>
            <a:r>
              <a:rPr sz="1400">
                <a:solidFill>
                  <a:srgbClr val="E5E5E0"/>
                </a:solidFill>
                <a:latin typeface="Consolas"/>
              </a:rPr>
              <a:t> </a:t>
            </a:r>
          </a:p>
          <a:p>
            <a:r>
              <a:rPr sz="1400">
                <a:solidFill>
                  <a:srgbClr val="E5E5E0"/>
                </a:solidFill>
                <a:latin typeface="Consolas"/>
              </a:rPr>
              <a:t>  - script: task ci</a:t>
            </a:r>
          </a:p>
          <a:p>
            <a:r>
              <a:rPr sz="1400">
                <a:solidFill>
                  <a:srgbClr val="E5E5E0"/>
                </a:solidFill>
                <a:latin typeface="Consolas"/>
              </a:rPr>
              <a:t>    displayName: 'CI'</a:t>
            </a:r>
          </a:p>
          <a:p>
            <a:r>
              <a:rPr sz="1400">
                <a:solidFill>
                  <a:srgbClr val="E5E5E0"/>
                </a:solidFill>
                <a:latin typeface="Consolas"/>
              </a:rPr>
              <a:t> </a:t>
            </a:r>
          </a:p>
          <a:p>
            <a:r>
              <a:rPr sz="1400">
                <a:solidFill>
                  <a:srgbClr val="E5E5E0"/>
                </a:solidFill>
                <a:latin typeface="Consolas"/>
              </a:rPr>
              <a:t>  - script: task cd</a:t>
            </a:r>
          </a:p>
          <a:p>
            <a:r>
              <a:rPr sz="1400">
                <a:solidFill>
                  <a:srgbClr val="E5E5E0"/>
                </a:solidFill>
                <a:latin typeface="Consolas"/>
              </a:rPr>
              <a:t>    displayName: 'CD'</a:t>
            </a:r>
          </a:p>
          <a:p>
            <a:r>
              <a:rPr sz="1400">
                <a:solidFill>
                  <a:srgbClr val="E5E5E0"/>
                </a:solidFill>
                <a:latin typeface="Consolas"/>
              </a:rPr>
              <a:t>    env:</a:t>
            </a:r>
          </a:p>
          <a:p>
            <a:r>
              <a:rPr sz="1400">
                <a:solidFill>
                  <a:srgbClr val="E5E5E0"/>
                </a:solidFill>
                <a:latin typeface="Consolas"/>
              </a:rPr>
              <a:t>      AZURE_CLIENT_ID: $(AZURE_CLIENT_ID)</a:t>
            </a:r>
          </a:p>
          <a:p>
            <a:r>
              <a:rPr sz="1400">
                <a:solidFill>
                  <a:srgbClr val="E5E5E0"/>
                </a:solidFill>
                <a:latin typeface="Consolas"/>
              </a:rPr>
              <a:t>      AZURE_CLIENT_SECRET: $(AZURE_CLIENT_SECRET)</a:t>
            </a:r>
          </a:p>
        </p:txBody>
      </p:sp>
      <p:sp>
        <p:nvSpPr>
          <p:cNvPr id="8" name="TextBox 7"/>
          <p:cNvSpPr txBox="1"/>
          <p:nvPr/>
        </p:nvSpPr>
        <p:spPr>
          <a:xfrm>
            <a:off x="7589520" y="1691640"/>
            <a:ext cx="3931920" cy="4114800"/>
          </a:xfrm>
          <a:prstGeom prst="rect">
            <a:avLst/>
          </a:prstGeom>
          <a:noFill/>
        </p:spPr>
        <p:txBody>
          <a:bodyPr wrap="square">
            <a:spAutoFit/>
          </a:bodyPr>
          <a:lstStyle/>
          <a:p>
            <a:r>
              <a:rPr sz="1600" b="1">
                <a:solidFill>
                  <a:srgbClr val="0B0B0B"/>
                </a:solidFill>
                <a:latin typeface="Segoe UI"/>
              </a:rPr>
              <a:t>ADO owns:</a:t>
            </a:r>
          </a:p>
          <a:p>
            <a:pPr>
              <a:spcAft>
                <a:spcPts val="400"/>
              </a:spcAft>
            </a:pPr>
            <a:r>
              <a:rPr sz="1500">
                <a:solidFill>
                  <a:srgbClr val="52514E"/>
                </a:solidFill>
                <a:latin typeface="Segoe UI"/>
              </a:rPr>
              <a:t>• Trigger</a:t>
            </a:r>
          </a:p>
          <a:p>
            <a:pPr>
              <a:spcAft>
                <a:spcPts val="400"/>
              </a:spcAft>
            </a:pPr>
            <a:r>
              <a:rPr sz="1500">
                <a:solidFill>
                  <a:srgbClr val="52514E"/>
                </a:solidFill>
                <a:latin typeface="Segoe UI"/>
              </a:rPr>
              <a:t>• Pool / agent</a:t>
            </a:r>
          </a:p>
          <a:p>
            <a:pPr>
              <a:spcAft>
                <a:spcPts val="400"/>
              </a:spcAft>
            </a:pPr>
            <a:r>
              <a:rPr sz="1500">
                <a:solidFill>
                  <a:srgbClr val="52514E"/>
                </a:solidFill>
                <a:latin typeface="Segoe UI"/>
              </a:rPr>
              <a:t>• Service connections</a:t>
            </a:r>
          </a:p>
          <a:p>
            <a:pPr>
              <a:spcAft>
                <a:spcPts val="400"/>
              </a:spcAft>
            </a:pPr>
            <a:r>
              <a:rPr sz="1500">
                <a:solidFill>
                  <a:srgbClr val="52514E"/>
                </a:solidFill>
                <a:latin typeface="Segoe UI"/>
              </a:rPr>
              <a:t>• Variable groups</a:t>
            </a:r>
          </a:p>
          <a:p>
            <a:pPr>
              <a:spcAft>
                <a:spcPts val="400"/>
              </a:spcAft>
            </a:pPr>
            <a:r>
              <a:rPr sz="1500">
                <a:solidFill>
                  <a:srgbClr val="52514E"/>
                </a:solidFill>
                <a:latin typeface="Segoe UI"/>
              </a:rPr>
              <a:t>• Approvals</a:t>
            </a:r>
          </a:p>
          <a:p>
            <a:pPr>
              <a:spcAft>
                <a:spcPts val="400"/>
              </a:spcAft>
            </a:pPr>
            <a:r>
              <a:rPr sz="1500">
                <a:solidFill>
                  <a:srgbClr val="52514E"/>
                </a:solidFill>
                <a:latin typeface="Segoe UI"/>
              </a:rPr>
              <a:t>• Artifacts</a:t>
            </a:r>
          </a:p>
          <a:p>
            <a:pPr>
              <a:spcBef>
                <a:spcPts val="1400"/>
              </a:spcBef>
            </a:pPr>
            <a:r>
              <a:rPr sz="1600" b="1">
                <a:solidFill>
                  <a:srgbClr val="0B0B0B"/>
                </a:solidFill>
                <a:latin typeface="Segoe UI"/>
              </a:rPr>
              <a:t>Taskfile owns:</a:t>
            </a:r>
          </a:p>
          <a:p>
            <a:pPr>
              <a:spcAft>
                <a:spcPts val="400"/>
              </a:spcAft>
            </a:pPr>
            <a:r>
              <a:rPr sz="1500">
                <a:solidFill>
                  <a:srgbClr val="52514E"/>
                </a:solidFill>
                <a:latin typeface="Segoe UI"/>
              </a:rPr>
              <a:t>Everything else (build, test, scan, deploy)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4. INTEGRATION</a:t>
            </a:r>
          </a:p>
          <a:p>
            <a:r>
              <a:rPr sz="2800" b="1">
                <a:solidFill>
                  <a:srgbClr val="0B0B0B"/>
                </a:solidFill>
                <a:latin typeface="Segoe UI"/>
              </a:rPr>
              <a:t>GitHub Actions Readiness (Later)</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GitHub Readiness</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10</a:t>
            </a:r>
          </a:p>
        </p:txBody>
      </p:sp>
      <p:sp>
        <p:nvSpPr>
          <p:cNvPr id="7" name="Rounded Rectangle 6"/>
          <p:cNvSpPr/>
          <p:nvPr/>
        </p:nvSpPr>
        <p:spPr>
          <a:xfrm>
            <a:off x="713232" y="1645920"/>
            <a:ext cx="6675120" cy="3108960"/>
          </a:xfrm>
          <a:prstGeom prst="roundRect">
            <a:avLst>
              <a:gd name="adj" fmla="val 3000"/>
            </a:avLst>
          </a:prstGeom>
          <a:solidFill>
            <a:srgbClr val="1A1A19"/>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r>
              <a:rPr sz="1500">
                <a:solidFill>
                  <a:srgbClr val="E5E5E0"/>
                </a:solidFill>
                <a:latin typeface="Consolas"/>
              </a:rPr>
              <a:t>- uses: actions/setup-dotnet@v4</a:t>
            </a:r>
          </a:p>
          <a:p>
            <a:r>
              <a:rPr sz="1500">
                <a:solidFill>
                  <a:srgbClr val="E5E5E0"/>
                </a:solidFill>
                <a:latin typeface="Consolas"/>
              </a:rPr>
              <a:t>  with:</a:t>
            </a:r>
          </a:p>
          <a:p>
            <a:r>
              <a:rPr sz="1500">
                <a:solidFill>
                  <a:srgbClr val="E5E5E0"/>
                </a:solidFill>
                <a:latin typeface="Consolas"/>
              </a:rPr>
              <a:t>    dotnet-version: '8.x'</a:t>
            </a:r>
          </a:p>
          <a:p>
            <a:r>
              <a:rPr sz="1500">
                <a:solidFill>
                  <a:srgbClr val="E5E5E0"/>
                </a:solidFill>
                <a:latin typeface="Consolas"/>
              </a:rPr>
              <a:t> </a:t>
            </a:r>
          </a:p>
          <a:p>
            <a:r>
              <a:rPr sz="1500">
                <a:solidFill>
                  <a:srgbClr val="E5E5E0"/>
                </a:solidFill>
                <a:latin typeface="Consolas"/>
              </a:rPr>
              <a:t>- run: task ci</a:t>
            </a:r>
          </a:p>
          <a:p>
            <a:r>
              <a:rPr sz="1500">
                <a:solidFill>
                  <a:srgbClr val="E5E5E0"/>
                </a:solidFill>
                <a:latin typeface="Consolas"/>
              </a:rPr>
              <a:t> </a:t>
            </a:r>
          </a:p>
          <a:p>
            <a:r>
              <a:rPr sz="1500">
                <a:solidFill>
                  <a:srgbClr val="E5E5E0"/>
                </a:solidFill>
                <a:latin typeface="Consolas"/>
              </a:rPr>
              <a:t>- run: task cd</a:t>
            </a:r>
          </a:p>
          <a:p>
            <a:r>
              <a:rPr sz="1500">
                <a:solidFill>
                  <a:srgbClr val="E5E5E0"/>
                </a:solidFill>
                <a:latin typeface="Consolas"/>
              </a:rPr>
              <a:t>  env:</a:t>
            </a:r>
          </a:p>
          <a:p>
            <a:r>
              <a:rPr sz="1500">
                <a:solidFill>
                  <a:srgbClr val="E5E5E0"/>
                </a:solidFill>
                <a:latin typeface="Consolas"/>
              </a:rPr>
              <a:t>    AZURE_CLIENT_ID: ${{ secrets.AZURE_CLIENT_ID }}</a:t>
            </a:r>
          </a:p>
        </p:txBody>
      </p:sp>
      <p:sp>
        <p:nvSpPr>
          <p:cNvPr id="8" name="TextBox 7"/>
          <p:cNvSpPr txBox="1"/>
          <p:nvPr/>
        </p:nvSpPr>
        <p:spPr>
          <a:xfrm>
            <a:off x="7589520" y="1737360"/>
            <a:ext cx="3931920" cy="3108960"/>
          </a:xfrm>
          <a:prstGeom prst="rect">
            <a:avLst/>
          </a:prstGeom>
          <a:noFill/>
        </p:spPr>
        <p:txBody>
          <a:bodyPr wrap="square">
            <a:spAutoFit/>
          </a:bodyPr>
          <a:lstStyle/>
          <a:p>
            <a:r>
              <a:rPr sz="1900" b="1">
                <a:solidFill>
                  <a:srgbClr val="2A78D6"/>
                </a:solidFill>
                <a:latin typeface="Segoe UI"/>
              </a:rPr>
              <a:t>The Taskfile does not change.</a:t>
            </a:r>
          </a:p>
          <a:p>
            <a:pPr>
              <a:spcBef>
                <a:spcPts val="1000"/>
              </a:spcBef>
            </a:pPr>
            <a:r>
              <a:rPr sz="1500">
                <a:solidFill>
                  <a:srgbClr val="52514E"/>
                </a:solidFill>
                <a:latin typeface="Segoe UI"/>
              </a:rPr>
              <a:t>Only the workflow file changes — same task ci / task cd, same libraries, same tasks.</a:t>
            </a:r>
          </a:p>
        </p:txBody>
      </p:sp>
      <p:sp>
        <p:nvSpPr>
          <p:cNvPr id="9" name="TextBox 8"/>
          <p:cNvSpPr txBox="1"/>
          <p:nvPr/>
        </p:nvSpPr>
        <p:spPr>
          <a:xfrm>
            <a:off x="713232" y="5120640"/>
            <a:ext cx="10789920" cy="365760"/>
          </a:xfrm>
          <a:prstGeom prst="rect">
            <a:avLst/>
          </a:prstGeom>
          <a:noFill/>
        </p:spPr>
        <p:txBody>
          <a:bodyPr wrap="square">
            <a:spAutoFit/>
          </a:bodyPr>
          <a:lstStyle/>
          <a:p>
            <a:r>
              <a:rPr sz="1200" i="1">
                <a:solidFill>
                  <a:srgbClr val="898781"/>
                </a:solidFill>
                <a:latin typeface="Segoe UI"/>
              </a:rPr>
              <a:t>Recommended: prove this now with a GitHub Actions smoke test, ahead of GHE org-wide rollout, rather than assuming portability.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5. GOVERNANCE</a:t>
            </a:r>
          </a:p>
          <a:p>
            <a:r>
              <a:rPr sz="2800" b="1">
                <a:solidFill>
                  <a:srgbClr val="0B0B0B"/>
                </a:solidFill>
                <a:latin typeface="Segoe UI"/>
              </a:rPr>
              <a:t>Versioning Strategy</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Versioning</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11</a:t>
            </a:r>
          </a:p>
        </p:txBody>
      </p:sp>
      <p:sp>
        <p:nvSpPr>
          <p:cNvPr id="7" name="TextBox 6"/>
          <p:cNvSpPr txBox="1"/>
          <p:nvPr/>
        </p:nvSpPr>
        <p:spPr>
          <a:xfrm>
            <a:off x="713232" y="1600200"/>
            <a:ext cx="10789920" cy="3803605"/>
          </a:xfrm>
          <a:prstGeom prst="rect">
            <a:avLst/>
          </a:prstGeom>
          <a:noFill/>
        </p:spPr>
        <p:txBody>
          <a:bodyPr wrap="square">
            <a:spAutoFit/>
          </a:bodyPr>
          <a:lstStyle/>
          <a:p>
            <a:pPr>
              <a:spcAft>
                <a:spcPts val="1300"/>
              </a:spcAft>
            </a:pPr>
            <a:r>
              <a:rPr sz="1700" b="1" dirty="0">
                <a:solidFill>
                  <a:srgbClr val="0B0B0B"/>
                </a:solidFill>
                <a:latin typeface="Segoe UI"/>
              </a:rPr>
              <a:t>▸ Semantic Versioning on the library — immutable version tags (v1.5.0) are never moved; VERSION file self-identifies for telemetry</a:t>
            </a:r>
          </a:p>
          <a:p>
            <a:pPr>
              <a:spcAft>
                <a:spcPts val="1300"/>
              </a:spcAft>
            </a:pPr>
            <a:r>
              <a:rPr sz="1700" b="1" dirty="0">
                <a:solidFill>
                  <a:srgbClr val="0B0B0B"/>
                </a:solidFill>
                <a:latin typeface="Segoe UI"/>
              </a:rPr>
              <a:t>▸ Channel tags are the consumption mechanism — app teams reference refs/tags/stable, not a pinned version number</a:t>
            </a:r>
          </a:p>
          <a:p>
            <a:pPr>
              <a:spcAft>
                <a:spcPts val="1300"/>
              </a:spcAft>
            </a:pPr>
            <a:r>
              <a:rPr sz="1700" b="1" dirty="0">
                <a:solidFill>
                  <a:srgbClr val="0B0B0B"/>
                </a:solidFill>
                <a:latin typeface="Segoe UI"/>
              </a:rPr>
              <a:t>▸ Three channels: stable (latest validated), v1-stable (current major, opt-out), </a:t>
            </a:r>
            <a:r>
              <a:rPr sz="1700" b="1" dirty="0" err="1">
                <a:solidFill>
                  <a:srgbClr val="0B0B0B"/>
                </a:solidFill>
                <a:latin typeface="Segoe UI"/>
              </a:rPr>
              <a:t>lts</a:t>
            </a:r>
            <a:r>
              <a:rPr sz="1700" b="1" dirty="0">
                <a:solidFill>
                  <a:srgbClr val="0B0B0B"/>
                </a:solidFill>
                <a:latin typeface="Segoe UI"/>
              </a:rPr>
              <a:t> (regulated workloads)</a:t>
            </a:r>
          </a:p>
          <a:p>
            <a:pPr>
              <a:spcAft>
                <a:spcPts val="1300"/>
              </a:spcAft>
            </a:pPr>
            <a:r>
              <a:rPr sz="1700" b="1" dirty="0">
                <a:solidFill>
                  <a:srgbClr val="0B0B0B"/>
                </a:solidFill>
                <a:latin typeface="Segoe UI"/>
              </a:rPr>
              <a:t>▸ Moving the stable tag is the entire release: zero app repo changes needed — </a:t>
            </a:r>
            <a:r>
              <a:rPr sz="1700" b="1">
                <a:solidFill>
                  <a:srgbClr val="0B0B0B"/>
                </a:solidFill>
                <a:latin typeface="Segoe UI"/>
              </a:rPr>
              <a:t>all pipelines </a:t>
            </a:r>
            <a:r>
              <a:rPr sz="1700" b="1" dirty="0">
                <a:solidFill>
                  <a:srgbClr val="0B0B0B"/>
                </a:solidFill>
                <a:latin typeface="Segoe UI"/>
              </a:rPr>
              <a:t>pick up the new version on next run</a:t>
            </a:r>
          </a:p>
          <a:p>
            <a:pPr>
              <a:spcAft>
                <a:spcPts val="1300"/>
              </a:spcAft>
            </a:pPr>
            <a:r>
              <a:rPr sz="1700" b="1" dirty="0">
                <a:solidFill>
                  <a:srgbClr val="0B0B0B"/>
                </a:solidFill>
                <a:latin typeface="Segoe UI"/>
              </a:rPr>
              <a:t>▸ Support policy: stable (current) → v1-stable (upgrade available / deprecated) → EOL channel (pipeline blocked)</a:t>
            </a:r>
          </a:p>
          <a:p>
            <a:pPr>
              <a:spcAft>
                <a:spcPts val="1300"/>
              </a:spcAft>
            </a:pPr>
            <a:r>
              <a:rPr sz="1700" b="1" dirty="0">
                <a:solidFill>
                  <a:srgbClr val="0B0B0B"/>
                </a:solidFill>
                <a:latin typeface="Segoe UI"/>
              </a:rPr>
              <a:t>▸ Release lifecycle (4 mandatory stages): Merge → Tag immutable version → Pilot validation (manual gate) → Promote stable (manual gate)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5. GOVERNANCE</a:t>
            </a:r>
          </a:p>
          <a:p>
            <a:r>
              <a:rPr sz="2800" b="1">
                <a:solidFill>
                  <a:srgbClr val="0B0B0B"/>
                </a:solidFill>
                <a:latin typeface="Segoe UI"/>
              </a:rPr>
              <a:t>Versioning &amp; Governance</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Versioning &amp; Governance</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12</a:t>
            </a:r>
          </a:p>
        </p:txBody>
      </p:sp>
      <p:sp>
        <p:nvSpPr>
          <p:cNvPr id="7" name="Rounded Rectangle 6"/>
          <p:cNvSpPr/>
          <p:nvPr/>
        </p:nvSpPr>
        <p:spPr>
          <a:xfrm>
            <a:off x="713232" y="1600200"/>
            <a:ext cx="6035040" cy="3291840"/>
          </a:xfrm>
          <a:prstGeom prst="roundRect">
            <a:avLst>
              <a:gd name="adj" fmla="val 3000"/>
            </a:avLst>
          </a:prstGeom>
          <a:solidFill>
            <a:srgbClr val="1A1A19"/>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r>
              <a:rPr sz="1200">
                <a:solidFill>
                  <a:srgbClr val="E5E5E0"/>
                </a:solidFill>
                <a:latin typeface="Consolas"/>
              </a:rPr>
              <a:t>refs/tags/stable   ──► v1.5.0 commit  (VERSION = "1.5.0")</a:t>
            </a:r>
          </a:p>
          <a:p>
            <a:r>
              <a:rPr sz="1200">
                <a:solidFill>
                  <a:srgbClr val="E5E5E0"/>
                </a:solidFill>
                <a:latin typeface="Consolas"/>
              </a:rPr>
              <a:t>refs/tags/v1-stable──► v1.5.0 commit</a:t>
            </a:r>
          </a:p>
          <a:p>
            <a:r>
              <a:rPr sz="1200">
                <a:solidFill>
                  <a:srgbClr val="E5E5E0"/>
                </a:solidFill>
                <a:latin typeface="Consolas"/>
              </a:rPr>
              <a:t>refs/tags/lts      ──► v1.2.1 commit  (VERSION = "1.2.1")</a:t>
            </a:r>
          </a:p>
          <a:p>
            <a:r>
              <a:rPr sz="1200">
                <a:solidFill>
                  <a:srgbClr val="E5E5E0"/>
                </a:solidFill>
                <a:latin typeface="Consolas"/>
              </a:rPr>
              <a:t> </a:t>
            </a:r>
          </a:p>
          <a:p>
            <a:r>
              <a:rPr sz="1200">
                <a:solidFill>
                  <a:srgbClr val="E5E5E0"/>
                </a:solidFill>
                <a:latin typeface="Consolas"/>
              </a:rPr>
              <a:t># Promote: move stable forward (promotion pipeline only)</a:t>
            </a:r>
          </a:p>
          <a:p>
            <a:r>
              <a:rPr sz="1200">
                <a:solidFill>
                  <a:srgbClr val="E5E5E0"/>
                </a:solidFill>
                <a:latin typeface="Consolas"/>
              </a:rPr>
              <a:t>git tag -f stable v1.5.0</a:t>
            </a:r>
          </a:p>
          <a:p>
            <a:r>
              <a:rPr sz="1200">
                <a:solidFill>
                  <a:srgbClr val="E5E5E0"/>
                </a:solidFill>
                <a:latin typeface="Consolas"/>
              </a:rPr>
              <a:t>git push --force origin stable</a:t>
            </a:r>
          </a:p>
          <a:p>
            <a:r>
              <a:rPr sz="1200">
                <a:solidFill>
                  <a:srgbClr val="E5E5E0"/>
                </a:solidFill>
                <a:latin typeface="Consolas"/>
              </a:rPr>
              <a:t># All 200+ app pipelines pick up v1.5.0 on next run — zero repo edits</a:t>
            </a:r>
          </a:p>
          <a:p>
            <a:r>
              <a:rPr sz="1200">
                <a:solidFill>
                  <a:srgbClr val="E5E5E0"/>
                </a:solidFill>
                <a:latin typeface="Consolas"/>
              </a:rPr>
              <a:t> </a:t>
            </a:r>
          </a:p>
          <a:p>
            <a:r>
              <a:rPr sz="1200">
                <a:solidFill>
                  <a:srgbClr val="E5E5E0"/>
                </a:solidFill>
                <a:latin typeface="Consolas"/>
              </a:rPr>
              <a:t># Rollback in seconds</a:t>
            </a:r>
          </a:p>
          <a:p>
            <a:r>
              <a:rPr sz="1200">
                <a:solidFill>
                  <a:srgbClr val="E5E5E0"/>
                </a:solidFill>
                <a:latin typeface="Consolas"/>
              </a:rPr>
              <a:t>git tag -f stable v1.4.0</a:t>
            </a:r>
          </a:p>
          <a:p>
            <a:r>
              <a:rPr sz="1200">
                <a:solidFill>
                  <a:srgbClr val="E5E5E0"/>
                </a:solidFill>
                <a:latin typeface="Consolas"/>
              </a:rPr>
              <a:t>git push --force origin stable</a:t>
            </a:r>
          </a:p>
        </p:txBody>
      </p:sp>
      <p:sp>
        <p:nvSpPr>
          <p:cNvPr id="8" name="TextBox 7"/>
          <p:cNvSpPr txBox="1"/>
          <p:nvPr/>
        </p:nvSpPr>
        <p:spPr>
          <a:xfrm>
            <a:off x="713232" y="4983480"/>
            <a:ext cx="6035040" cy="365760"/>
          </a:xfrm>
          <a:prstGeom prst="rect">
            <a:avLst/>
          </a:prstGeom>
          <a:noFill/>
        </p:spPr>
        <p:txBody>
          <a:bodyPr wrap="none">
            <a:spAutoFit/>
          </a:bodyPr>
          <a:lstStyle/>
          <a:p>
            <a:r>
              <a:rPr sz="1200" i="1">
                <a:solidFill>
                  <a:srgbClr val="898781"/>
                </a:solidFill>
                <a:latin typeface="Segoe UI"/>
              </a:rPr>
              <a:t>Channel tags are mutable git refs. Immutable version tags (v1.5.0) provide the audit trail.</a:t>
            </a:r>
          </a:p>
        </p:txBody>
      </p:sp>
      <p:sp>
        <p:nvSpPr>
          <p:cNvPr id="9" name="TextBox 8"/>
          <p:cNvSpPr txBox="1"/>
          <p:nvPr/>
        </p:nvSpPr>
        <p:spPr>
          <a:xfrm>
            <a:off x="713232" y="5440680"/>
            <a:ext cx="6035040" cy="274320"/>
          </a:xfrm>
          <a:prstGeom prst="rect">
            <a:avLst/>
          </a:prstGeom>
          <a:noFill/>
        </p:spPr>
        <p:txBody>
          <a:bodyPr wrap="none">
            <a:spAutoFit/>
          </a:bodyPr>
          <a:lstStyle/>
          <a:p>
            <a:r>
              <a:rPr sz="1300" b="1">
                <a:solidFill>
                  <a:srgbClr val="0B0B0B"/>
                </a:solidFill>
                <a:latin typeface="Segoe UI"/>
              </a:rPr>
              <a:t>Release lifecycle:</a:t>
            </a:r>
          </a:p>
        </p:txBody>
      </p:sp>
      <p:sp>
        <p:nvSpPr>
          <p:cNvPr id="10" name="Rectangle 9"/>
          <p:cNvSpPr/>
          <p:nvPr/>
        </p:nvSpPr>
        <p:spPr>
          <a:xfrm>
            <a:off x="713232" y="5806440"/>
            <a:ext cx="1161287" cy="457200"/>
          </a:xfrm>
          <a:prstGeom prst="rect">
            <a:avLst/>
          </a:prstGeom>
          <a:solidFill>
            <a:srgbClr val="52514E"/>
          </a:solidFill>
          <a:ln>
            <a:no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000" b="1">
                <a:solidFill>
                  <a:srgbClr val="FFFFFF"/>
                </a:solidFill>
                <a:latin typeface="Segoe UI"/>
              </a:rPr>
              <a:t>Merge → main</a:t>
            </a:r>
          </a:p>
        </p:txBody>
      </p:sp>
      <p:sp>
        <p:nvSpPr>
          <p:cNvPr id="11" name="Rectangle 10"/>
          <p:cNvSpPr/>
          <p:nvPr/>
        </p:nvSpPr>
        <p:spPr>
          <a:xfrm>
            <a:off x="1920239" y="5806440"/>
            <a:ext cx="1161287" cy="4572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000" b="1">
                <a:solidFill>
                  <a:srgbClr val="FFFFFF"/>
                </a:solidFill>
                <a:latin typeface="Segoe UI"/>
              </a:rPr>
              <a:t>Tag v1.5.0</a:t>
            </a:r>
          </a:p>
        </p:txBody>
      </p:sp>
      <p:sp>
        <p:nvSpPr>
          <p:cNvPr id="12" name="Rectangle 11"/>
          <p:cNvSpPr/>
          <p:nvPr/>
        </p:nvSpPr>
        <p:spPr>
          <a:xfrm>
            <a:off x="3127246" y="5806440"/>
            <a:ext cx="1161287" cy="457200"/>
          </a:xfrm>
          <a:prstGeom prst="rect">
            <a:avLst/>
          </a:prstGeom>
          <a:solidFill>
            <a:srgbClr val="0CA30C"/>
          </a:solidFill>
          <a:ln>
            <a:no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000" b="1">
                <a:solidFill>
                  <a:srgbClr val="FFFFFF"/>
                </a:solidFill>
                <a:latin typeface="Segoe UI"/>
              </a:rPr>
              <a:t>Pilot ✓</a:t>
            </a:r>
          </a:p>
        </p:txBody>
      </p:sp>
      <p:sp>
        <p:nvSpPr>
          <p:cNvPr id="13" name="Rectangle 12"/>
          <p:cNvSpPr/>
          <p:nvPr/>
        </p:nvSpPr>
        <p:spPr>
          <a:xfrm>
            <a:off x="4334253" y="5806440"/>
            <a:ext cx="1161287" cy="457200"/>
          </a:xfrm>
          <a:prstGeom prst="rect">
            <a:avLst/>
          </a:prstGeom>
          <a:solidFill>
            <a:srgbClr val="184F95"/>
          </a:solidFill>
          <a:ln>
            <a:no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000" b="1">
                <a:solidFill>
                  <a:srgbClr val="FFFFFF"/>
                </a:solidFill>
                <a:latin typeface="Segoe UI"/>
              </a:rPr>
              <a:t>Promote stable</a:t>
            </a:r>
          </a:p>
        </p:txBody>
      </p:sp>
      <p:sp>
        <p:nvSpPr>
          <p:cNvPr id="14" name="Rectangle 13"/>
          <p:cNvSpPr/>
          <p:nvPr/>
        </p:nvSpPr>
        <p:spPr>
          <a:xfrm>
            <a:off x="5541260" y="5806440"/>
            <a:ext cx="1161287" cy="457200"/>
          </a:xfrm>
          <a:prstGeom prst="rect">
            <a:avLst/>
          </a:prstGeom>
          <a:solidFill>
            <a:srgbClr val="0CA30C"/>
          </a:solidFill>
          <a:ln>
            <a:noFill/>
          </a:ln>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000" b="1">
                <a:solidFill>
                  <a:srgbClr val="FFFFFF"/>
                </a:solidFill>
                <a:latin typeface="Segoe UI"/>
              </a:rPr>
              <a:t>All repos updated</a:t>
            </a:r>
          </a:p>
        </p:txBody>
      </p:sp>
      <p:sp>
        <p:nvSpPr>
          <p:cNvPr id="15" name="TextBox 14"/>
          <p:cNvSpPr txBox="1"/>
          <p:nvPr/>
        </p:nvSpPr>
        <p:spPr>
          <a:xfrm>
            <a:off x="7022592" y="1600200"/>
            <a:ext cx="4711903" cy="320040"/>
          </a:xfrm>
          <a:prstGeom prst="rect">
            <a:avLst/>
          </a:prstGeom>
          <a:noFill/>
        </p:spPr>
        <p:txBody>
          <a:bodyPr wrap="none">
            <a:spAutoFit/>
          </a:bodyPr>
          <a:lstStyle/>
          <a:p>
            <a:r>
              <a:rPr sz="1600" b="1">
                <a:solidFill>
                  <a:srgbClr val="0B0B0B"/>
                </a:solidFill>
                <a:latin typeface="Segoe UI"/>
              </a:rPr>
              <a:t>Support Policy</a:t>
            </a:r>
          </a:p>
        </p:txBody>
      </p:sp>
      <p:sp>
        <p:nvSpPr>
          <p:cNvPr id="16" name="Rectangle 15"/>
          <p:cNvSpPr/>
          <p:nvPr/>
        </p:nvSpPr>
        <p:spPr>
          <a:xfrm>
            <a:off x="7022592" y="1993392"/>
            <a:ext cx="4711903" cy="1905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022592" y="2121408"/>
            <a:ext cx="1978999" cy="512064"/>
          </a:xfrm>
          <a:prstGeom prst="roundRect">
            <a:avLst>
              <a:gd name="adj" fmla="val 30000"/>
            </a:avLst>
          </a:prstGeom>
          <a:solidFill>
            <a:srgbClr val="0CA30C"/>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l"/>
            <a:r>
              <a:rPr sz="1200" b="1">
                <a:solidFill>
                  <a:srgbClr val="FFFFFF"/>
                </a:solidFill>
                <a:latin typeface="Segoe UI"/>
              </a:rPr>
              <a:t>✅ Current</a:t>
            </a:r>
          </a:p>
        </p:txBody>
      </p:sp>
      <p:sp>
        <p:nvSpPr>
          <p:cNvPr id="18" name="TextBox 17"/>
          <p:cNvSpPr txBox="1"/>
          <p:nvPr/>
        </p:nvSpPr>
        <p:spPr>
          <a:xfrm>
            <a:off x="9095829" y="2194560"/>
            <a:ext cx="2638665" cy="475488"/>
          </a:xfrm>
          <a:prstGeom prst="rect">
            <a:avLst/>
          </a:prstGeom>
          <a:noFill/>
        </p:spPr>
        <p:txBody>
          <a:bodyPr wrap="square">
            <a:spAutoFit/>
          </a:bodyPr>
          <a:lstStyle/>
          <a:p>
            <a:r>
              <a:rPr sz="1200">
                <a:solidFill>
                  <a:srgbClr val="52514E"/>
                </a:solidFill>
                <a:latin typeface="Segoe UI"/>
              </a:rPr>
              <a:t>On stable, latest version</a:t>
            </a:r>
          </a:p>
        </p:txBody>
      </p:sp>
      <p:sp>
        <p:nvSpPr>
          <p:cNvPr id="19" name="Rounded Rectangle 18"/>
          <p:cNvSpPr/>
          <p:nvPr/>
        </p:nvSpPr>
        <p:spPr>
          <a:xfrm>
            <a:off x="7022592" y="2724912"/>
            <a:ext cx="1978999" cy="512064"/>
          </a:xfrm>
          <a:prstGeom prst="roundRect">
            <a:avLst>
              <a:gd name="adj" fmla="val 30000"/>
            </a:avLst>
          </a:prstGeom>
          <a:solidFill>
            <a:srgbClr val="FAB219"/>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l"/>
            <a:r>
              <a:rPr sz="1200" b="1">
                <a:solidFill>
                  <a:srgbClr val="FFFFFF"/>
                </a:solidFill>
                <a:latin typeface="Segoe UI"/>
              </a:rPr>
              <a:t>⚠ Upgrade Avail.</a:t>
            </a:r>
          </a:p>
        </p:txBody>
      </p:sp>
      <p:sp>
        <p:nvSpPr>
          <p:cNvPr id="20" name="TextBox 19"/>
          <p:cNvSpPr txBox="1"/>
          <p:nvPr/>
        </p:nvSpPr>
        <p:spPr>
          <a:xfrm>
            <a:off x="9095829" y="2798064"/>
            <a:ext cx="2638665" cy="475488"/>
          </a:xfrm>
          <a:prstGeom prst="rect">
            <a:avLst/>
          </a:prstGeom>
          <a:noFill/>
        </p:spPr>
        <p:txBody>
          <a:bodyPr wrap="square">
            <a:spAutoFit/>
          </a:bodyPr>
          <a:lstStyle/>
          <a:p>
            <a:r>
              <a:rPr sz="1200">
                <a:solidFill>
                  <a:srgbClr val="52514E"/>
                </a:solidFill>
                <a:latin typeface="Segoe UI"/>
              </a:rPr>
              <a:t>On v1-stable, newer minor exists</a:t>
            </a:r>
          </a:p>
        </p:txBody>
      </p:sp>
      <p:sp>
        <p:nvSpPr>
          <p:cNvPr id="21" name="Rounded Rectangle 20"/>
          <p:cNvSpPr/>
          <p:nvPr/>
        </p:nvSpPr>
        <p:spPr>
          <a:xfrm>
            <a:off x="7022592" y="3328416"/>
            <a:ext cx="1978999" cy="512064"/>
          </a:xfrm>
          <a:prstGeom prst="roundRect">
            <a:avLst>
              <a:gd name="adj" fmla="val 30000"/>
            </a:avLst>
          </a:prstGeom>
          <a:solidFill>
            <a:srgbClr val="FAB219"/>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l"/>
            <a:r>
              <a:rPr sz="1200" b="1">
                <a:solidFill>
                  <a:srgbClr val="FFFFFF"/>
                </a:solidFill>
                <a:latin typeface="Segoe UI"/>
              </a:rPr>
              <a:t>⚠ Deprecated</a:t>
            </a:r>
          </a:p>
        </p:txBody>
      </p:sp>
      <p:sp>
        <p:nvSpPr>
          <p:cNvPr id="22" name="TextBox 21"/>
          <p:cNvSpPr txBox="1"/>
          <p:nvPr/>
        </p:nvSpPr>
        <p:spPr>
          <a:xfrm>
            <a:off x="9095829" y="3401568"/>
            <a:ext cx="2638665" cy="475488"/>
          </a:xfrm>
          <a:prstGeom prst="rect">
            <a:avLst/>
          </a:prstGeom>
          <a:noFill/>
        </p:spPr>
        <p:txBody>
          <a:bodyPr wrap="square">
            <a:spAutoFit/>
          </a:bodyPr>
          <a:lstStyle/>
          <a:p>
            <a:r>
              <a:rPr sz="1200">
                <a:solidFill>
                  <a:srgbClr val="52514E"/>
                </a:solidFill>
                <a:latin typeface="Segoe UI"/>
              </a:rPr>
              <a:t>v1-stable EOL announced</a:t>
            </a:r>
          </a:p>
        </p:txBody>
      </p:sp>
      <p:sp>
        <p:nvSpPr>
          <p:cNvPr id="23" name="Rounded Rectangle 22"/>
          <p:cNvSpPr/>
          <p:nvPr/>
        </p:nvSpPr>
        <p:spPr>
          <a:xfrm>
            <a:off x="7022592" y="3931920"/>
            <a:ext cx="1978999" cy="512064"/>
          </a:xfrm>
          <a:prstGeom prst="roundRect">
            <a:avLst>
              <a:gd name="adj" fmla="val 30000"/>
            </a:avLst>
          </a:prstGeom>
          <a:solidFill>
            <a:srgbClr val="D03B3B"/>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l"/>
            <a:r>
              <a:rPr sz="1200" b="1">
                <a:solidFill>
                  <a:srgbClr val="FFFFFF"/>
                </a:solidFill>
                <a:latin typeface="Segoe UI"/>
              </a:rPr>
              <a:t>❌ Blocked</a:t>
            </a:r>
          </a:p>
        </p:txBody>
      </p:sp>
      <p:sp>
        <p:nvSpPr>
          <p:cNvPr id="24" name="TextBox 23"/>
          <p:cNvSpPr txBox="1"/>
          <p:nvPr/>
        </p:nvSpPr>
        <p:spPr>
          <a:xfrm>
            <a:off x="9095829" y="4005072"/>
            <a:ext cx="2638665" cy="475488"/>
          </a:xfrm>
          <a:prstGeom prst="rect">
            <a:avLst/>
          </a:prstGeom>
          <a:noFill/>
        </p:spPr>
        <p:txBody>
          <a:bodyPr wrap="square">
            <a:spAutoFit/>
          </a:bodyPr>
          <a:lstStyle/>
          <a:p>
            <a:r>
              <a:rPr sz="1200">
                <a:solidFill>
                  <a:srgbClr val="52514E"/>
                </a:solidFill>
                <a:latin typeface="Segoe UI"/>
              </a:rPr>
              <a:t>EOL channel — pipeline fails</a:t>
            </a:r>
          </a:p>
        </p:txBody>
      </p:sp>
      <p:sp>
        <p:nvSpPr>
          <p:cNvPr id="25" name="TextBox 24"/>
          <p:cNvSpPr txBox="1"/>
          <p:nvPr/>
        </p:nvSpPr>
        <p:spPr>
          <a:xfrm>
            <a:off x="7022592" y="4572000"/>
            <a:ext cx="4711903" cy="274320"/>
          </a:xfrm>
          <a:prstGeom prst="rect">
            <a:avLst/>
          </a:prstGeom>
          <a:noFill/>
        </p:spPr>
        <p:txBody>
          <a:bodyPr wrap="none">
            <a:spAutoFit/>
          </a:bodyPr>
          <a:lstStyle/>
          <a:p>
            <a:r>
              <a:rPr sz="1300" b="1">
                <a:solidFill>
                  <a:srgbClr val="0B0B0B"/>
                </a:solidFill>
                <a:latin typeface="Segoe UI"/>
              </a:rPr>
              <a:t>App pipeline (written once):</a:t>
            </a:r>
          </a:p>
        </p:txBody>
      </p:sp>
      <p:sp>
        <p:nvSpPr>
          <p:cNvPr id="26" name="Rounded Rectangle 25"/>
          <p:cNvSpPr/>
          <p:nvPr/>
        </p:nvSpPr>
        <p:spPr>
          <a:xfrm>
            <a:off x="7022592" y="4892040"/>
            <a:ext cx="4711903" cy="914400"/>
          </a:xfrm>
          <a:prstGeom prst="roundRect">
            <a:avLst>
              <a:gd name="adj" fmla="val 3000"/>
            </a:avLst>
          </a:prstGeom>
          <a:solidFill>
            <a:srgbClr val="1A1A19"/>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r>
              <a:rPr sz="1100">
                <a:solidFill>
                  <a:srgbClr val="E5E5E0"/>
                </a:solidFill>
                <a:latin typeface="Consolas"/>
              </a:rPr>
              <a:t>ref: refs/tags/stable   # ← only line to change per channel</a:t>
            </a:r>
          </a:p>
          <a:p>
            <a:r>
              <a:rPr sz="1100">
                <a:solidFill>
                  <a:srgbClr val="E5E5E0"/>
                </a:solidFill>
                <a:latin typeface="Consolas"/>
              </a:rPr>
              <a:t>extends:</a:t>
            </a:r>
          </a:p>
          <a:p>
            <a:r>
              <a:rPr sz="1100">
                <a:solidFill>
                  <a:srgbClr val="E5E5E0"/>
                </a:solidFill>
                <a:latin typeface="Consolas"/>
              </a:rPr>
              <a:t>  template: azure-pipelines-thin.yml@platform</a:t>
            </a:r>
          </a:p>
        </p:txBody>
      </p:sp>
      <p:sp>
        <p:nvSpPr>
          <p:cNvPr id="27" name="TextBox 26"/>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Versioning &amp; Governance</a:t>
            </a:r>
          </a:p>
        </p:txBody>
      </p:sp>
      <p:sp>
        <p:nvSpPr>
          <p:cNvPr id="28" name="TextBox 27"/>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5. GOVERNANCE</a:t>
            </a:r>
          </a:p>
          <a:p>
            <a:r>
              <a:rPr sz="2800" b="1">
                <a:solidFill>
                  <a:srgbClr val="0B0B0B"/>
                </a:solidFill>
                <a:latin typeface="Segoe UI"/>
              </a:rPr>
              <a:t>Ownership Model</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Ownership</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13</a:t>
            </a:r>
          </a:p>
        </p:txBody>
      </p:sp>
      <p:graphicFrame>
        <p:nvGraphicFramePr>
          <p:cNvPr id="7" name="Table 6"/>
          <p:cNvGraphicFramePr>
            <a:graphicFrameLocks noGrp="1"/>
          </p:cNvGraphicFramePr>
          <p:nvPr/>
        </p:nvGraphicFramePr>
        <p:xfrm>
          <a:off x="713232" y="1645920"/>
          <a:ext cx="10789920" cy="3108960"/>
        </p:xfrm>
        <a:graphic>
          <a:graphicData uri="http://schemas.openxmlformats.org/drawingml/2006/table">
            <a:tbl>
              <a:tblPr firstRow="1" bandRow="1">
                <a:tableStyleId>{5C22544A-7EE6-4342-B048-85BDC9FD1C3A}</a:tableStyleId>
              </a:tblPr>
              <a:tblGrid>
                <a:gridCol w="7193280">
                  <a:extLst>
                    <a:ext uri="{9D8B030D-6E8A-4147-A177-3AD203B41FA5}">
                      <a16:colId xmlns:a16="http://schemas.microsoft.com/office/drawing/2014/main" val="20000"/>
                    </a:ext>
                  </a:extLst>
                </a:gridCol>
                <a:gridCol w="3596640">
                  <a:extLst>
                    <a:ext uri="{9D8B030D-6E8A-4147-A177-3AD203B41FA5}">
                      <a16:colId xmlns:a16="http://schemas.microsoft.com/office/drawing/2014/main" val="20001"/>
                    </a:ext>
                  </a:extLst>
                </a:gridCol>
              </a:tblGrid>
              <a:tr h="518160">
                <a:tc>
                  <a:txBody>
                    <a:bodyPr/>
                    <a:lstStyle/>
                    <a:p>
                      <a:pPr algn="l"/>
                      <a:r>
                        <a:rPr sz="1400" b="1">
                          <a:solidFill>
                            <a:srgbClr val="FFFFFF"/>
                          </a:solidFill>
                          <a:latin typeface="Segoe UI"/>
                        </a:rPr>
                        <a:t>Responsibility</a:t>
                      </a:r>
                    </a:p>
                  </a:txBody>
                  <a:tcPr anchor="ctr">
                    <a:solidFill>
                      <a:srgbClr val="2A78D6"/>
                    </a:solidFill>
                  </a:tcPr>
                </a:tc>
                <a:tc>
                  <a:txBody>
                    <a:bodyPr/>
                    <a:lstStyle/>
                    <a:p>
                      <a:pPr algn="l"/>
                      <a:r>
                        <a:rPr sz="1400" b="1">
                          <a:solidFill>
                            <a:srgbClr val="FFFFFF"/>
                          </a:solidFill>
                          <a:latin typeface="Segoe UI"/>
                        </a:rPr>
                        <a:t>Owner</a:t>
                      </a:r>
                    </a:p>
                  </a:txBody>
                  <a:tcPr anchor="ctr">
                    <a:solidFill>
                      <a:srgbClr val="2A78D6"/>
                    </a:solidFill>
                  </a:tcPr>
                </a:tc>
                <a:extLst>
                  <a:ext uri="{0D108BD9-81ED-4DB2-BD59-A6C34878D82A}">
                    <a16:rowId xmlns:a16="http://schemas.microsoft.com/office/drawing/2014/main" val="10000"/>
                  </a:ext>
                </a:extLst>
              </a:tr>
              <a:tr h="518160">
                <a:tc>
                  <a:txBody>
                    <a:bodyPr/>
                    <a:lstStyle/>
                    <a:p>
                      <a:r>
                        <a:rPr sz="1400">
                          <a:solidFill>
                            <a:srgbClr val="0B0B0B"/>
                          </a:solidFill>
                          <a:latin typeface="Segoe UI"/>
                        </a:rPr>
                        <a:t>CI/CD standards &amp; shared Taskfile library</a:t>
                      </a:r>
                    </a:p>
                  </a:txBody>
                  <a:tcPr anchor="ctr">
                    <a:solidFill>
                      <a:srgbClr val="FCFCFB"/>
                    </a:solidFill>
                  </a:tcPr>
                </a:tc>
                <a:tc>
                  <a:txBody>
                    <a:bodyPr/>
                    <a:lstStyle/>
                    <a:p>
                      <a:r>
                        <a:rPr sz="1400">
                          <a:solidFill>
                            <a:srgbClr val="0B0B0B"/>
                          </a:solidFill>
                          <a:latin typeface="Segoe UI"/>
                        </a:rPr>
                        <a:t>Platform Engineering</a:t>
                      </a:r>
                    </a:p>
                  </a:txBody>
                  <a:tcPr anchor="ctr">
                    <a:solidFill>
                      <a:srgbClr val="FCFCFB"/>
                    </a:solidFill>
                  </a:tcPr>
                </a:tc>
                <a:extLst>
                  <a:ext uri="{0D108BD9-81ED-4DB2-BD59-A6C34878D82A}">
                    <a16:rowId xmlns:a16="http://schemas.microsoft.com/office/drawing/2014/main" val="10001"/>
                  </a:ext>
                </a:extLst>
              </a:tr>
              <a:tr h="518160">
                <a:tc>
                  <a:txBody>
                    <a:bodyPr/>
                    <a:lstStyle/>
                    <a:p>
                      <a:r>
                        <a:rPr sz="1400">
                          <a:solidFill>
                            <a:srgbClr val="0B0B0B"/>
                          </a:solidFill>
                          <a:latin typeface="Segoe UI"/>
                        </a:rPr>
                        <a:t>Shared PowerShell / Bicep modules</a:t>
                      </a:r>
                    </a:p>
                  </a:txBody>
                  <a:tcPr anchor="ctr">
                    <a:solidFill>
                      <a:srgbClr val="F2F1EE"/>
                    </a:solidFill>
                  </a:tcPr>
                </a:tc>
                <a:tc>
                  <a:txBody>
                    <a:bodyPr/>
                    <a:lstStyle/>
                    <a:p>
                      <a:r>
                        <a:rPr sz="1400">
                          <a:solidFill>
                            <a:srgbClr val="0B0B0B"/>
                          </a:solidFill>
                          <a:latin typeface="Segoe UI"/>
                        </a:rPr>
                        <a:t>Platform Engineering</a:t>
                      </a:r>
                    </a:p>
                  </a:txBody>
                  <a:tcPr anchor="ctr">
                    <a:solidFill>
                      <a:srgbClr val="F2F1EE"/>
                    </a:solidFill>
                  </a:tcPr>
                </a:tc>
                <a:extLst>
                  <a:ext uri="{0D108BD9-81ED-4DB2-BD59-A6C34878D82A}">
                    <a16:rowId xmlns:a16="http://schemas.microsoft.com/office/drawing/2014/main" val="10002"/>
                  </a:ext>
                </a:extLst>
              </a:tr>
              <a:tr h="518160">
                <a:tc>
                  <a:txBody>
                    <a:bodyPr/>
                    <a:lstStyle/>
                    <a:p>
                      <a:r>
                        <a:rPr sz="1400">
                          <a:solidFill>
                            <a:srgbClr val="0B0B0B"/>
                          </a:solidFill>
                          <a:latin typeface="Segoe UI"/>
                        </a:rPr>
                        <a:t>Version management &amp; release cadence</a:t>
                      </a:r>
                    </a:p>
                  </a:txBody>
                  <a:tcPr anchor="ctr">
                    <a:solidFill>
                      <a:srgbClr val="FCFCFB"/>
                    </a:solidFill>
                  </a:tcPr>
                </a:tc>
                <a:tc>
                  <a:txBody>
                    <a:bodyPr/>
                    <a:lstStyle/>
                    <a:p>
                      <a:r>
                        <a:rPr sz="1400">
                          <a:solidFill>
                            <a:srgbClr val="0B0B0B"/>
                          </a:solidFill>
                          <a:latin typeface="Segoe UI"/>
                        </a:rPr>
                        <a:t>Platform Engineering</a:t>
                      </a:r>
                    </a:p>
                  </a:txBody>
                  <a:tcPr anchor="ctr">
                    <a:solidFill>
                      <a:srgbClr val="FCFCFB"/>
                    </a:solidFill>
                  </a:tcPr>
                </a:tc>
                <a:extLst>
                  <a:ext uri="{0D108BD9-81ED-4DB2-BD59-A6C34878D82A}">
                    <a16:rowId xmlns:a16="http://schemas.microsoft.com/office/drawing/2014/main" val="10003"/>
                  </a:ext>
                </a:extLst>
              </a:tr>
              <a:tr h="518160">
                <a:tc>
                  <a:txBody>
                    <a:bodyPr/>
                    <a:lstStyle/>
                    <a:p>
                      <a:r>
                        <a:rPr sz="1400">
                          <a:solidFill>
                            <a:srgbClr val="0B0B0B"/>
                          </a:solidFill>
                          <a:latin typeface="Segoe UI"/>
                        </a:rPr>
                        <a:t>Application Taskfiles &amp; pipelines</a:t>
                      </a:r>
                    </a:p>
                  </a:txBody>
                  <a:tcPr anchor="ctr">
                    <a:solidFill>
                      <a:srgbClr val="F2F1EE"/>
                    </a:solidFill>
                  </a:tcPr>
                </a:tc>
                <a:tc>
                  <a:txBody>
                    <a:bodyPr/>
                    <a:lstStyle/>
                    <a:p>
                      <a:r>
                        <a:rPr sz="1400">
                          <a:solidFill>
                            <a:srgbClr val="0B0B0B"/>
                          </a:solidFill>
                          <a:latin typeface="Segoe UI"/>
                        </a:rPr>
                        <a:t>Application Teams</a:t>
                      </a:r>
                    </a:p>
                  </a:txBody>
                  <a:tcPr anchor="ctr">
                    <a:solidFill>
                      <a:srgbClr val="F2F1EE"/>
                    </a:solidFill>
                  </a:tcPr>
                </a:tc>
                <a:extLst>
                  <a:ext uri="{0D108BD9-81ED-4DB2-BD59-A6C34878D82A}">
                    <a16:rowId xmlns:a16="http://schemas.microsoft.com/office/drawing/2014/main" val="10004"/>
                  </a:ext>
                </a:extLst>
              </a:tr>
              <a:tr h="518160">
                <a:tc>
                  <a:txBody>
                    <a:bodyPr/>
                    <a:lstStyle/>
                    <a:p>
                      <a:r>
                        <a:rPr sz="1400">
                          <a:solidFill>
                            <a:srgbClr val="0B0B0B"/>
                          </a:solidFill>
                          <a:latin typeface="Segoe UI"/>
                        </a:rPr>
                        <a:t>Exception approvals</a:t>
                      </a:r>
                    </a:p>
                  </a:txBody>
                  <a:tcPr anchor="ctr">
                    <a:solidFill>
                      <a:srgbClr val="FCFCFB"/>
                    </a:solidFill>
                  </a:tcPr>
                </a:tc>
                <a:tc>
                  <a:txBody>
                    <a:bodyPr/>
                    <a:lstStyle/>
                    <a:p>
                      <a:r>
                        <a:rPr sz="1400">
                          <a:solidFill>
                            <a:srgbClr val="0B0B0B"/>
                          </a:solidFill>
                          <a:latin typeface="Segoe UI"/>
                        </a:rPr>
                        <a:t>Platform Engineering / Architecture</a:t>
                      </a:r>
                    </a:p>
                  </a:txBody>
                  <a:tcPr anchor="ctr">
                    <a:solidFill>
                      <a:srgbClr val="FCFCFB"/>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13232" y="5029200"/>
            <a:ext cx="10789920" cy="365760"/>
          </a:xfrm>
          <a:prstGeom prst="rect">
            <a:avLst/>
          </a:prstGeom>
          <a:noFill/>
        </p:spPr>
        <p:txBody>
          <a:bodyPr wrap="square">
            <a:spAutoFit/>
          </a:bodyPr>
          <a:lstStyle/>
          <a:p>
            <a:r>
              <a:rPr sz="1200" i="1">
                <a:solidFill>
                  <a:srgbClr val="898781"/>
                </a:solidFill>
                <a:latin typeface="Segoe UI"/>
              </a:rPr>
              <a:t>Application teams keep control of application-specific logic; Platform Engineering owns reusable capabilities.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6. VISIBILITY</a:t>
            </a:r>
          </a:p>
          <a:p>
            <a:r>
              <a:rPr sz="2800" b="1">
                <a:solidFill>
                  <a:srgbClr val="0B0B0B"/>
                </a:solidFill>
                <a:latin typeface="Segoe UI"/>
              </a:rPr>
              <a:t>Telemetry &amp; Adoption Visibility</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Telemetry</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14</a:t>
            </a:r>
          </a:p>
        </p:txBody>
      </p:sp>
      <p:sp>
        <p:nvSpPr>
          <p:cNvPr id="7" name="TextBox 6"/>
          <p:cNvSpPr txBox="1"/>
          <p:nvPr/>
        </p:nvSpPr>
        <p:spPr>
          <a:xfrm>
            <a:off x="713232" y="1554480"/>
            <a:ext cx="10789920" cy="1737360"/>
          </a:xfrm>
          <a:prstGeom prst="rect">
            <a:avLst/>
          </a:prstGeom>
          <a:noFill/>
        </p:spPr>
        <p:txBody>
          <a:bodyPr wrap="square">
            <a:spAutoFit/>
          </a:bodyPr>
          <a:lstStyle/>
          <a:p>
            <a:pPr>
              <a:spcAft>
                <a:spcPts val="1000"/>
              </a:spcAft>
            </a:pPr>
            <a:r>
              <a:rPr sz="1800" b="1">
                <a:solidFill>
                  <a:srgbClr val="0B0B0B"/>
                </a:solidFill>
                <a:latin typeface="Segoe UI"/>
              </a:rPr>
              <a:t>▸ Every task ci / task cd run reports repository, branch, environment, platform version, and timestamp</a:t>
            </a:r>
          </a:p>
          <a:p>
            <a:pPr>
              <a:spcAft>
                <a:spcPts val="1000"/>
              </a:spcAft>
            </a:pPr>
            <a:r>
              <a:rPr sz="1800" b="1">
                <a:solidFill>
                  <a:srgbClr val="0B0B0B"/>
                </a:solidFill>
                <a:latin typeface="Segoe UI"/>
              </a:rPr>
              <a:t>▸ Sent to Azure Log Analytics — no application-side code required</a:t>
            </a:r>
          </a:p>
          <a:p>
            <a:pPr>
              <a:spcAft>
                <a:spcPts val="1000"/>
              </a:spcAft>
            </a:pPr>
            <a:r>
              <a:rPr sz="1800" b="1">
                <a:solidFill>
                  <a:srgbClr val="0B0B0B"/>
                </a:solidFill>
                <a:latin typeface="Segoe UI"/>
              </a:rPr>
              <a:t>▸ Enables an adoption dashboard, e.g.:</a:t>
            </a:r>
          </a:p>
        </p:txBody>
      </p:sp>
      <p:graphicFrame>
        <p:nvGraphicFramePr>
          <p:cNvPr id="8" name="Chart 7"/>
          <p:cNvGraphicFramePr>
            <a:graphicFrameLocks noGrp="1"/>
          </p:cNvGraphicFramePr>
          <p:nvPr/>
        </p:nvGraphicFramePr>
        <p:xfrm>
          <a:off x="822960" y="3246120"/>
          <a:ext cx="576072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6949440" y="3383280"/>
            <a:ext cx="4572000" cy="2286000"/>
          </a:xfrm>
          <a:prstGeom prst="rect">
            <a:avLst/>
          </a:prstGeom>
          <a:noFill/>
        </p:spPr>
        <p:txBody>
          <a:bodyPr wrap="square">
            <a:spAutoFit/>
          </a:bodyPr>
          <a:lstStyle/>
          <a:p>
            <a:r>
              <a:rPr sz="1600">
                <a:solidFill>
                  <a:srgbClr val="52514E"/>
                </a:solidFill>
                <a:latin typeface="Segoe UI"/>
              </a:rPr>
              <a:t>Adoption Rate</a:t>
            </a:r>
          </a:p>
          <a:p>
            <a:r>
              <a:rPr sz="4400" b="1">
                <a:solidFill>
                  <a:srgbClr val="2A78D6"/>
                </a:solidFill>
                <a:latin typeface="Segoe UI"/>
              </a:rPr>
              <a:t>88%</a:t>
            </a:r>
          </a:p>
          <a:p>
            <a:pPr>
              <a:spcBef>
                <a:spcPts val="1000"/>
              </a:spcBef>
            </a:pPr>
            <a:r>
              <a:rPr sz="1400">
                <a:solidFill>
                  <a:srgbClr val="52514E"/>
                </a:solidFill>
                <a:latin typeface="Segoe UI"/>
              </a:rPr>
              <a:t>of repositories on the current supported platform version</a:t>
            </a:r>
          </a:p>
        </p:txBody>
      </p:sp>
      <p:sp>
        <p:nvSpPr>
          <p:cNvPr id="10" name="TextBox 9"/>
          <p:cNvSpPr txBox="1"/>
          <p:nvPr/>
        </p:nvSpPr>
        <p:spPr>
          <a:xfrm>
            <a:off x="713232" y="6080760"/>
            <a:ext cx="10789920" cy="365760"/>
          </a:xfrm>
          <a:prstGeom prst="rect">
            <a:avLst/>
          </a:prstGeom>
          <a:noFill/>
        </p:spPr>
        <p:txBody>
          <a:bodyPr wrap="square">
            <a:spAutoFit/>
          </a:bodyPr>
          <a:lstStyle/>
          <a:p>
            <a:r>
              <a:rPr sz="1200" i="1">
                <a:solidFill>
                  <a:srgbClr val="898781"/>
                </a:solidFill>
                <a:latin typeface="Segoe UI"/>
              </a:rPr>
              <a:t>Illustrative target dashboard from the design doc (ver.md) — not live production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7. ROLLOUT</a:t>
            </a:r>
          </a:p>
          <a:p>
            <a:r>
              <a:rPr sz="2800" b="1">
                <a:solidFill>
                  <a:srgbClr val="0B0B0B"/>
                </a:solidFill>
                <a:latin typeface="Segoe UI"/>
              </a:rPr>
              <a:t>Pilot Plan</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Pilot Plan</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15</a:t>
            </a:r>
          </a:p>
        </p:txBody>
      </p:sp>
      <p:graphicFrame>
        <p:nvGraphicFramePr>
          <p:cNvPr id="7" name="Table 6"/>
          <p:cNvGraphicFramePr>
            <a:graphicFrameLocks noGrp="1"/>
          </p:cNvGraphicFramePr>
          <p:nvPr/>
        </p:nvGraphicFramePr>
        <p:xfrm>
          <a:off x="713232" y="1645920"/>
          <a:ext cx="10789920" cy="2743200"/>
        </p:xfrm>
        <a:graphic>
          <a:graphicData uri="http://schemas.openxmlformats.org/drawingml/2006/table">
            <a:tbl>
              <a:tblPr firstRow="1" bandRow="1">
                <a:tableStyleId>{5C22544A-7EE6-4342-B048-85BDC9FD1C3A}</a:tableStyleId>
              </a:tblPr>
              <a:tblGrid>
                <a:gridCol w="4495800">
                  <a:extLst>
                    <a:ext uri="{9D8B030D-6E8A-4147-A177-3AD203B41FA5}">
                      <a16:colId xmlns:a16="http://schemas.microsoft.com/office/drawing/2014/main" val="20000"/>
                    </a:ext>
                  </a:extLst>
                </a:gridCol>
                <a:gridCol w="6294120">
                  <a:extLst>
                    <a:ext uri="{9D8B030D-6E8A-4147-A177-3AD203B41FA5}">
                      <a16:colId xmlns:a16="http://schemas.microsoft.com/office/drawing/2014/main" val="20001"/>
                    </a:ext>
                  </a:extLst>
                </a:gridCol>
              </a:tblGrid>
              <a:tr h="548640">
                <a:tc>
                  <a:txBody>
                    <a:bodyPr/>
                    <a:lstStyle/>
                    <a:p>
                      <a:pPr algn="l"/>
                      <a:r>
                        <a:rPr sz="1400" b="1">
                          <a:solidFill>
                            <a:srgbClr val="FFFFFF"/>
                          </a:solidFill>
                          <a:latin typeface="Segoe UI"/>
                        </a:rPr>
                        <a:t>Pilot Application</a:t>
                      </a:r>
                    </a:p>
                  </a:txBody>
                  <a:tcPr anchor="ctr">
                    <a:solidFill>
                      <a:srgbClr val="2A78D6"/>
                    </a:solidFill>
                  </a:tcPr>
                </a:tc>
                <a:tc>
                  <a:txBody>
                    <a:bodyPr/>
                    <a:lstStyle/>
                    <a:p>
                      <a:pPr algn="l"/>
                      <a:r>
                        <a:rPr sz="1400" b="1">
                          <a:solidFill>
                            <a:srgbClr val="FFFFFF"/>
                          </a:solidFill>
                          <a:latin typeface="Segoe UI"/>
                        </a:rPr>
                        <a:t>Validates</a:t>
                      </a:r>
                    </a:p>
                  </a:txBody>
                  <a:tcPr anchor="ctr">
                    <a:solidFill>
                      <a:srgbClr val="2A78D6"/>
                    </a:solidFill>
                  </a:tcPr>
                </a:tc>
                <a:extLst>
                  <a:ext uri="{0D108BD9-81ED-4DB2-BD59-A6C34878D82A}">
                    <a16:rowId xmlns:a16="http://schemas.microsoft.com/office/drawing/2014/main" val="10000"/>
                  </a:ext>
                </a:extLst>
              </a:tr>
              <a:tr h="548640">
                <a:tc>
                  <a:txBody>
                    <a:bodyPr/>
                    <a:lstStyle/>
                    <a:p>
                      <a:r>
                        <a:rPr sz="1400">
                          <a:solidFill>
                            <a:srgbClr val="0B0B0B"/>
                          </a:solidFill>
                          <a:latin typeface="Segoe UI"/>
                        </a:rPr>
                        <a:t>Standard .NET API</a:t>
                      </a:r>
                    </a:p>
                  </a:txBody>
                  <a:tcPr anchor="ctr">
                    <a:solidFill>
                      <a:srgbClr val="FCFCFB"/>
                    </a:solidFill>
                  </a:tcPr>
                </a:tc>
                <a:tc>
                  <a:txBody>
                    <a:bodyPr/>
                    <a:lstStyle/>
                    <a:p>
                      <a:r>
                        <a:rPr sz="1400">
                          <a:solidFill>
                            <a:srgbClr val="0B0B0B"/>
                          </a:solidFill>
                          <a:latin typeface="Segoe UI"/>
                        </a:rPr>
                        <a:t>Build / test / package / deploy happy path</a:t>
                      </a:r>
                    </a:p>
                  </a:txBody>
                  <a:tcPr anchor="ctr">
                    <a:solidFill>
                      <a:srgbClr val="FCFCFB"/>
                    </a:solidFill>
                  </a:tcPr>
                </a:tc>
                <a:extLst>
                  <a:ext uri="{0D108BD9-81ED-4DB2-BD59-A6C34878D82A}">
                    <a16:rowId xmlns:a16="http://schemas.microsoft.com/office/drawing/2014/main" val="10001"/>
                  </a:ext>
                </a:extLst>
              </a:tr>
              <a:tr h="548640">
                <a:tc>
                  <a:txBody>
                    <a:bodyPr/>
                    <a:lstStyle/>
                    <a:p>
                      <a:r>
                        <a:rPr sz="1400">
                          <a:solidFill>
                            <a:srgbClr val="0B0B0B"/>
                          </a:solidFill>
                          <a:latin typeface="Segoe UI"/>
                        </a:rPr>
                        <a:t>Azure Function</a:t>
                      </a:r>
                    </a:p>
                  </a:txBody>
                  <a:tcPr anchor="ctr">
                    <a:solidFill>
                      <a:srgbClr val="F2F1EE"/>
                    </a:solidFill>
                  </a:tcPr>
                </a:tc>
                <a:tc>
                  <a:txBody>
                    <a:bodyPr/>
                    <a:lstStyle/>
                    <a:p>
                      <a:r>
                        <a:rPr sz="1400">
                          <a:solidFill>
                            <a:srgbClr val="0B0B0B"/>
                          </a:solidFill>
                          <a:latin typeface="Segoe UI"/>
                        </a:rPr>
                        <a:t>Deploy namespace + environment variables</a:t>
                      </a:r>
                    </a:p>
                  </a:txBody>
                  <a:tcPr anchor="ctr">
                    <a:solidFill>
                      <a:srgbClr val="F2F1EE"/>
                    </a:solidFill>
                  </a:tcPr>
                </a:tc>
                <a:extLst>
                  <a:ext uri="{0D108BD9-81ED-4DB2-BD59-A6C34878D82A}">
                    <a16:rowId xmlns:a16="http://schemas.microsoft.com/office/drawing/2014/main" val="10002"/>
                  </a:ext>
                </a:extLst>
              </a:tr>
              <a:tr h="548640">
                <a:tc>
                  <a:txBody>
                    <a:bodyPr/>
                    <a:lstStyle/>
                    <a:p>
                      <a:r>
                        <a:rPr sz="1400">
                          <a:solidFill>
                            <a:srgbClr val="0B0B0B"/>
                          </a:solidFill>
                          <a:latin typeface="Segoe UI"/>
                        </a:rPr>
                        <a:t>Legacy PowerShell-heavy application</a:t>
                      </a:r>
                    </a:p>
                  </a:txBody>
                  <a:tcPr anchor="ctr">
                    <a:solidFill>
                      <a:srgbClr val="FCFCFB"/>
                    </a:solidFill>
                  </a:tcPr>
                </a:tc>
                <a:tc>
                  <a:txBody>
                    <a:bodyPr/>
                    <a:lstStyle/>
                    <a:p>
                      <a:r>
                        <a:rPr sz="1400">
                          <a:solidFill>
                            <a:srgbClr val="0B0B0B"/>
                          </a:solidFill>
                          <a:latin typeface="Segoe UI"/>
                        </a:rPr>
                        <a:t>Existing script reuse with minimal refactor</a:t>
                      </a:r>
                    </a:p>
                  </a:txBody>
                  <a:tcPr anchor="ctr">
                    <a:solidFill>
                      <a:srgbClr val="FCFCFB"/>
                    </a:solidFill>
                  </a:tcPr>
                </a:tc>
                <a:extLst>
                  <a:ext uri="{0D108BD9-81ED-4DB2-BD59-A6C34878D82A}">
                    <a16:rowId xmlns:a16="http://schemas.microsoft.com/office/drawing/2014/main" val="10003"/>
                  </a:ext>
                </a:extLst>
              </a:tr>
              <a:tr h="548640">
                <a:tc>
                  <a:txBody>
                    <a:bodyPr/>
                    <a:lstStyle/>
                    <a:p>
                      <a:r>
                        <a:rPr sz="1400">
                          <a:solidFill>
                            <a:srgbClr val="0B0B0B"/>
                          </a:solidFill>
                          <a:latin typeface="Segoe UI"/>
                        </a:rPr>
                        <a:t>Bicep infra-only repository</a:t>
                      </a:r>
                    </a:p>
                  </a:txBody>
                  <a:tcPr anchor="ctr">
                    <a:solidFill>
                      <a:srgbClr val="F2F1EE"/>
                    </a:solidFill>
                  </a:tcPr>
                </a:tc>
                <a:tc>
                  <a:txBody>
                    <a:bodyPr/>
                    <a:lstStyle/>
                    <a:p>
                      <a:r>
                        <a:rPr sz="1400">
                          <a:solidFill>
                            <a:srgbClr val="0B0B0B"/>
                          </a:solidFill>
                          <a:latin typeface="Segoe UI"/>
                        </a:rPr>
                        <a:t>Infra namespace in isolation</a:t>
                      </a:r>
                    </a:p>
                  </a:txBody>
                  <a:tcPr anchor="ctr">
                    <a:solidFill>
                      <a:srgbClr val="F2F1EE"/>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713232" y="4754880"/>
            <a:ext cx="10789920" cy="365760"/>
          </a:xfrm>
          <a:prstGeom prst="rect">
            <a:avLst/>
          </a:prstGeom>
          <a:noFill/>
        </p:spPr>
        <p:txBody>
          <a:bodyPr wrap="square">
            <a:spAutoFit/>
          </a:bodyPr>
          <a:lstStyle/>
          <a:p>
            <a:r>
              <a:rPr sz="1200" i="1">
                <a:solidFill>
                  <a:srgbClr val="898781"/>
                </a:solidFill>
                <a:latin typeface="Segoe UI"/>
              </a:rPr>
              <a:t>Success measured on: migration effort, pipeline readability, script reuse, local/CI parity, and GitHub migration readiness.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7. ROLLOUT</a:t>
            </a:r>
          </a:p>
          <a:p>
            <a:r>
              <a:rPr sz="2800" b="1">
                <a:solidFill>
                  <a:srgbClr val="0B0B0B"/>
                </a:solidFill>
                <a:latin typeface="Segoe UI"/>
              </a:rPr>
              <a:t>Build Order &amp; Roadmap</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Roadmap</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16</a:t>
            </a:r>
          </a:p>
        </p:txBody>
      </p:sp>
      <p:sp>
        <p:nvSpPr>
          <p:cNvPr id="7" name="TextBox 6"/>
          <p:cNvSpPr txBox="1"/>
          <p:nvPr/>
        </p:nvSpPr>
        <p:spPr>
          <a:xfrm>
            <a:off x="713232" y="1645920"/>
            <a:ext cx="10789920" cy="4754880"/>
          </a:xfrm>
          <a:prstGeom prst="rect">
            <a:avLst/>
          </a:prstGeom>
          <a:noFill/>
        </p:spPr>
        <p:txBody>
          <a:bodyPr wrap="square">
            <a:spAutoFit/>
          </a:bodyPr>
          <a:lstStyle/>
          <a:p>
            <a:pPr>
              <a:spcAft>
                <a:spcPts val="1600"/>
              </a:spcAft>
            </a:pPr>
            <a:r>
              <a:rPr sz="1900" b="1">
                <a:solidFill>
                  <a:srgbClr val="0B0B0B"/>
                </a:solidFill>
                <a:latin typeface="Segoe UI"/>
              </a:rPr>
              <a:t>▸ Scaffold library + core .NET / Bicep tasks — DONE</a:t>
            </a:r>
          </a:p>
          <a:p>
            <a:pPr>
              <a:spcAft>
                <a:spcPts val="1600"/>
              </a:spcAft>
            </a:pPr>
            <a:r>
              <a:rPr sz="1900" b="1">
                <a:solidFill>
                  <a:srgbClr val="0B0B0B"/>
                </a:solidFill>
                <a:latin typeface="Segoe UI"/>
              </a:rPr>
              <a:t>▸ Add telemetry reporting and security scanning tasks</a:t>
            </a:r>
          </a:p>
          <a:p>
            <a:pPr>
              <a:spcAft>
                <a:spcPts val="1600"/>
              </a:spcAft>
            </a:pPr>
            <a:r>
              <a:rPr sz="1900" b="1">
                <a:solidFill>
                  <a:srgbClr val="0B0B0B"/>
                </a:solidFill>
                <a:latin typeface="Segoe UI"/>
              </a:rPr>
              <a:t>▸ Pilot on 4 representative repositories, capture success metrics</a:t>
            </a:r>
          </a:p>
          <a:p>
            <a:pPr>
              <a:spcAft>
                <a:spcPts val="1600"/>
              </a:spcAft>
            </a:pPr>
            <a:r>
              <a:rPr sz="1900" b="1">
                <a:solidFill>
                  <a:srgbClr val="0B0B0B"/>
                </a:solidFill>
                <a:latin typeface="Segoe UI"/>
              </a:rPr>
              <a:t>▸ Publish v1.0.0 with CHANGELOG and support policy; open for org-wide onboarding</a:t>
            </a:r>
          </a:p>
          <a:p>
            <a:pPr>
              <a:spcAft>
                <a:spcPts val="1600"/>
              </a:spcAft>
            </a:pPr>
            <a:r>
              <a:rPr sz="1900" b="1">
                <a:solidFill>
                  <a:srgbClr val="0B0B0B"/>
                </a:solidFill>
                <a:latin typeface="Segoe UI"/>
              </a:rPr>
              <a:t>▸ Prove GitHub Actions portability with a smoke test, ahead of GHE rollout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8. STATUS</a:t>
            </a:r>
          </a:p>
          <a:p>
            <a:r>
              <a:rPr sz="2800" b="1">
                <a:solidFill>
                  <a:srgbClr val="0B0B0B"/>
                </a:solidFill>
                <a:latin typeface="Segoe UI"/>
              </a:rPr>
              <a:t>Where We Are Today</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Status Today</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17</a:t>
            </a:r>
          </a:p>
        </p:txBody>
      </p:sp>
      <p:sp>
        <p:nvSpPr>
          <p:cNvPr id="7" name="TextBox 6"/>
          <p:cNvSpPr txBox="1"/>
          <p:nvPr/>
        </p:nvSpPr>
        <p:spPr>
          <a:xfrm>
            <a:off x="713232" y="1645920"/>
            <a:ext cx="10789920" cy="4754880"/>
          </a:xfrm>
          <a:prstGeom prst="rect">
            <a:avLst/>
          </a:prstGeom>
          <a:noFill/>
        </p:spPr>
        <p:txBody>
          <a:bodyPr wrap="square">
            <a:spAutoFit/>
          </a:bodyPr>
          <a:lstStyle/>
          <a:p>
            <a:pPr>
              <a:spcAft>
                <a:spcPts val="1600"/>
              </a:spcAft>
            </a:pPr>
            <a:r>
              <a:rPr sz="1900" b="1">
                <a:solidFill>
                  <a:srgbClr val="0B0B0B"/>
                </a:solidFill>
                <a:latin typeface="Segoe UI"/>
              </a:rPr>
              <a:t>▸ platform-taskfile-library is scaffolded and validated — task --list-all resolves 23 tasks</a:t>
            </a:r>
          </a:p>
          <a:p>
            <a:pPr>
              <a:spcAft>
                <a:spcPts val="1600"/>
              </a:spcAft>
            </a:pPr>
            <a:r>
              <a:rPr sz="1900" b="1">
                <a:solidFill>
                  <a:srgbClr val="0B0B0B"/>
                </a:solidFill>
                <a:latin typeface="Segoe UI"/>
              </a:rPr>
              <a:t>▸ Root Taskfile composes ci / cd from dotnet, test, security, bicep, appservice, and telemetry namespaces</a:t>
            </a:r>
          </a:p>
          <a:p>
            <a:pPr>
              <a:spcAft>
                <a:spcPts val="1600"/>
              </a:spcAft>
            </a:pPr>
            <a:r>
              <a:rPr sz="1900" b="1">
                <a:solidFill>
                  <a:srgbClr val="0B0B0B"/>
                </a:solidFill>
                <a:latin typeface="Segoe UI"/>
              </a:rPr>
              <a:t>▸ Thin Azure DevOps pipeline template and equivalent GitHub Actions workflow are drafted</a:t>
            </a:r>
          </a:p>
          <a:p>
            <a:pPr>
              <a:spcAft>
                <a:spcPts val="1600"/>
              </a:spcAft>
            </a:pPr>
            <a:r>
              <a:rPr sz="1900" b="1">
                <a:solidFill>
                  <a:srgbClr val="0B0B0B"/>
                </a:solidFill>
                <a:latin typeface="Segoe UI"/>
              </a:rPr>
              <a:t>▸ Telemetry task confirmed working end-to-end (reads VERSION, reports repo / branch / environment)</a:t>
            </a:r>
          </a:p>
          <a:p>
            <a:pPr>
              <a:spcAft>
                <a:spcPts val="1600"/>
              </a:spcAft>
            </a:pPr>
            <a:r>
              <a:rPr sz="1900" b="1">
                <a:solidFill>
                  <a:srgbClr val="0B0B0B"/>
                </a:solidFill>
                <a:latin typeface="Segoe UI"/>
              </a:rPr>
              <a:t>▸ Not yet done: real scanner integrations, telemetry endpoint, and the four pilots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777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292608"/>
            <a:ext cx="10789920" cy="914400"/>
          </a:xfrm>
          <a:prstGeom prst="rect">
            <a:avLst/>
          </a:prstGeom>
          <a:noFill/>
        </p:spPr>
        <p:txBody>
          <a:bodyPr wrap="square">
            <a:spAutoFit/>
          </a:bodyPr>
          <a:lstStyle/>
          <a:p>
            <a:r>
              <a:rPr sz="1200" b="1">
                <a:solidFill>
                  <a:srgbClr val="2A78D6"/>
                </a:solidFill>
                <a:latin typeface="Segoe UI"/>
              </a:rPr>
              <a:t>9. DECISIONS</a:t>
            </a:r>
          </a:p>
          <a:p>
            <a:r>
              <a:rPr sz="2800" b="1">
                <a:solidFill>
                  <a:srgbClr val="0B0B0B"/>
                </a:solidFill>
                <a:latin typeface="Segoe UI"/>
              </a:rPr>
              <a:t>Decisions Needed From This Group</a:t>
            </a:r>
          </a:p>
        </p:txBody>
      </p:sp>
      <p:sp>
        <p:nvSpPr>
          <p:cNvPr id="4" name="Rectangle 3"/>
          <p:cNvSpPr/>
          <p:nvPr/>
        </p:nvSpPr>
        <p:spPr>
          <a:xfrm>
            <a:off x="457200" y="1298448"/>
            <a:ext cx="11274552"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73952"/>
            <a:ext cx="8229600" cy="320040"/>
          </a:xfrm>
          <a:prstGeom prst="rect">
            <a:avLst/>
          </a:prstGeom>
          <a:noFill/>
        </p:spPr>
        <p:txBody>
          <a:bodyPr wrap="none">
            <a:spAutoFit/>
          </a:bodyPr>
          <a:lstStyle/>
          <a:p>
            <a:r>
              <a:rPr sz="1000">
                <a:solidFill>
                  <a:srgbClr val="898781"/>
                </a:solidFill>
                <a:latin typeface="Segoe UI"/>
              </a:rPr>
              <a:t>Taskfile CI/CD Modernization  |  Open Decisions</a:t>
            </a:r>
          </a:p>
        </p:txBody>
      </p:sp>
      <p:sp>
        <p:nvSpPr>
          <p:cNvPr id="6" name="TextBox 5"/>
          <p:cNvSpPr txBox="1"/>
          <p:nvPr/>
        </p:nvSpPr>
        <p:spPr>
          <a:xfrm>
            <a:off x="11521440" y="6473952"/>
            <a:ext cx="548640" cy="320040"/>
          </a:xfrm>
          <a:prstGeom prst="rect">
            <a:avLst/>
          </a:prstGeom>
          <a:noFill/>
        </p:spPr>
        <p:txBody>
          <a:bodyPr wrap="none">
            <a:spAutoFit/>
          </a:bodyPr>
          <a:lstStyle/>
          <a:p>
            <a:pPr algn="r"/>
            <a:r>
              <a:rPr sz="1000">
                <a:solidFill>
                  <a:srgbClr val="898781"/>
                </a:solidFill>
                <a:latin typeface="Segoe UI"/>
              </a:rPr>
              <a:t>18</a:t>
            </a:r>
          </a:p>
        </p:txBody>
      </p:sp>
      <p:sp>
        <p:nvSpPr>
          <p:cNvPr id="7" name="TextBox 6"/>
          <p:cNvSpPr txBox="1"/>
          <p:nvPr/>
        </p:nvSpPr>
        <p:spPr>
          <a:xfrm>
            <a:off x="713232" y="1737360"/>
            <a:ext cx="10789920" cy="4754880"/>
          </a:xfrm>
          <a:prstGeom prst="rect">
            <a:avLst/>
          </a:prstGeom>
          <a:noFill/>
        </p:spPr>
        <p:txBody>
          <a:bodyPr wrap="square">
            <a:spAutoFit/>
          </a:bodyPr>
          <a:lstStyle/>
          <a:p>
            <a:pPr>
              <a:spcAft>
                <a:spcPts val="2000"/>
              </a:spcAft>
            </a:pPr>
            <a:r>
              <a:rPr sz="2000" b="1">
                <a:solidFill>
                  <a:srgbClr val="0B0B0B"/>
                </a:solidFill>
                <a:latin typeface="Segoe UI"/>
              </a:rPr>
              <a:t>▸ Where does the library repo live — a new dedicated Azure DevOps repo, or a folder inside an existing platform repo?</a:t>
            </a:r>
          </a:p>
          <a:p>
            <a:pPr>
              <a:spcAft>
                <a:spcPts val="2000"/>
              </a:spcAft>
            </a:pPr>
            <a:r>
              <a:rPr sz="2000" b="1">
                <a:solidFill>
                  <a:srgbClr val="0B0B0B"/>
                </a:solidFill>
                <a:latin typeface="Segoe UI"/>
              </a:rPr>
              <a:t>▸ Telemetry endpoint — direct Azure Monitor Data Collector API, or an intermediate internal service?</a:t>
            </a:r>
          </a:p>
          <a:p>
            <a:pPr>
              <a:spcAft>
                <a:spcPts val="2000"/>
              </a:spcAft>
            </a:pPr>
            <a:r>
              <a:rPr sz="2000" b="1">
                <a:solidFill>
                  <a:srgbClr val="0B0B0B"/>
                </a:solidFill>
                <a:latin typeface="Segoe UI"/>
              </a:rPr>
              <a:t>▸ Who runs the four pilots — Platform Engineering embedded with app teams, or app teams self-serve with office hours?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1A2E"/>
        </a:solidFill>
        <a:effectLst/>
      </p:bgPr>
    </p:bg>
    <p:spTree>
      <p:nvGrpSpPr>
        <p:cNvPr id="1" name=""/>
        <p:cNvGrpSpPr/>
        <p:nvPr/>
      </p:nvGrpSpPr>
      <p:grpSpPr>
        <a:xfrm>
          <a:off x="0" y="0"/>
          <a:ext cx="0" cy="0"/>
          <a:chOff x="0" y="0"/>
          <a:chExt cx="0" cy="0"/>
        </a:xfrm>
      </p:grpSpPr>
      <p:sp>
        <p:nvSpPr>
          <p:cNvPr id="2" name="Rectangle 1"/>
          <p:cNvSpPr/>
          <p:nvPr/>
        </p:nvSpPr>
        <p:spPr>
          <a:xfrm>
            <a:off x="822960" y="2743200"/>
            <a:ext cx="914400" cy="82296"/>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926080"/>
            <a:ext cx="10515600" cy="1371600"/>
          </a:xfrm>
          <a:prstGeom prst="rect">
            <a:avLst/>
          </a:prstGeom>
          <a:noFill/>
        </p:spPr>
        <p:txBody>
          <a:bodyPr wrap="none">
            <a:spAutoFit/>
          </a:bodyPr>
          <a:lstStyle/>
          <a:p>
            <a:r>
              <a:rPr sz="3600" b="1">
                <a:solidFill>
                  <a:srgbClr val="FFFFFF"/>
                </a:solidFill>
                <a:latin typeface="Segoe UI"/>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98dc247-4164-4d99-a44b-ea177dbebdb9}" enabled="1" method="Privileged" siteId="{139f0669-cebb-42df-b9e3-415009ddb690}" contentBits="0" removed="0"/>
</clbl:labelList>
</file>

<file path=docProps/app.xml><?xml version="1.0" encoding="utf-8"?>
<Properties xmlns="http://schemas.openxmlformats.org/officeDocument/2006/extended-properties" xmlns:vt="http://schemas.openxmlformats.org/officeDocument/2006/docPropsVTypes">
  <TotalTime>2</TotalTime>
  <Words>6203</Words>
  <Application>Microsoft Macintosh PowerPoint</Application>
  <PresentationFormat>Widescreen</PresentationFormat>
  <Paragraphs>424</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Dhaval K Patel</cp:lastModifiedBy>
  <cp:revision>2</cp:revision>
  <dcterms:created xsi:type="dcterms:W3CDTF">2013-01-27T09:14:16Z</dcterms:created>
  <dcterms:modified xsi:type="dcterms:W3CDTF">2026-08-28T09:05:12Z</dcterms:modified>
  <cp:category/>
</cp:coreProperties>
</file>